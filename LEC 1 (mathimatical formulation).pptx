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59" r:id="rId5"/>
    <p:sldId id="260" r:id="rId6"/>
    <p:sldId id="261" r:id="rId7"/>
    <p:sldId id="263" r:id="rId8"/>
    <p:sldId id="264" r:id="rId9"/>
    <p:sldId id="266" r:id="rId10"/>
    <p:sldId id="267" r:id="rId11"/>
    <p:sldId id="270" r:id="rId12"/>
    <p:sldId id="271" r:id="rId13"/>
    <p:sldId id="272" r:id="rId14"/>
    <p:sldId id="273" r:id="rId15"/>
    <p:sldId id="285" r:id="rId16"/>
    <p:sldId id="286"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4660"/>
  </p:normalViewPr>
  <p:slideViewPr>
    <p:cSldViewPr snapToGrid="0" showGuides="1">
      <p:cViewPr varScale="1">
        <p:scale>
          <a:sx n="75" d="100"/>
          <a:sy n="75" d="100"/>
        </p:scale>
        <p:origin x="97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57ACB-663A-4497-AF13-6EF581407963}" type="doc">
      <dgm:prSet loTypeId="urn:microsoft.com/office/officeart/2005/8/layout/process2" loCatId="process" qsTypeId="urn:microsoft.com/office/officeart/2005/8/quickstyle/simple4" qsCatId="simple" csTypeId="urn:microsoft.com/office/officeart/2005/8/colors/colorful4" csCatId="colorful" phldr="1"/>
      <dgm:spPr/>
    </dgm:pt>
    <dgm:pt modelId="{1F59CA72-B462-4B96-8C61-22F169023C69}">
      <dgm:prSet phldrT="[Text]"/>
      <dgm:spPr/>
      <dgm:t>
        <a:bodyPr/>
        <a:lstStyle/>
        <a:p>
          <a:r>
            <a:rPr lang="en-GB"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Observation</a:t>
          </a:r>
        </a:p>
      </dgm:t>
    </dgm:pt>
    <dgm:pt modelId="{4B75955A-CF33-488E-A566-F73A4C6AC44E}" type="parTrans" cxnId="{5C35FC75-14EE-4BA6-B99E-B607C2E6C961}">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C5CB6337-F8D8-48F6-940E-2260320A5A69}" type="sibTrans" cxnId="{5C35FC75-14EE-4BA6-B99E-B607C2E6C961}">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32A697B5-58B6-4C27-A58B-D10B085A1C36}">
      <dgm:prSet phldrT="[Text]"/>
      <dgm:spPr/>
      <dgm:t>
        <a:bodyPr/>
        <a:lstStyle/>
        <a:p>
          <a:r>
            <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rPr>
            <a:t>Definition of the Problem</a:t>
          </a:r>
          <a:endParaRPr lang="en-GB"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8ACDDE15-8922-4FEA-8369-F9F48425CE0F}" type="parTrans" cxnId="{D11061AB-3CEB-49CA-B87F-C74122BF2AC3}">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6FBE291E-697B-40E7-8B2E-F8A2DA66FAED}" type="sibTrans" cxnId="{D11061AB-3CEB-49CA-B87F-C74122BF2AC3}">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6B1AD4E1-580A-460F-A45B-6714E238AE79}">
      <dgm:prSet phldrT="[Text]"/>
      <dgm:spPr/>
      <dgm:t>
        <a:bodyPr/>
        <a:lstStyle/>
        <a:p>
          <a:r>
            <a:rPr lang="en-GB"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Model Construction</a:t>
          </a:r>
        </a:p>
      </dgm:t>
    </dgm:pt>
    <dgm:pt modelId="{A926E3CF-1193-495B-B61B-8DE60BB77873}" type="parTrans" cxnId="{D0DF8693-91DA-4692-87CE-B69907A3F0CE}">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F6CE8690-9B67-4FBC-BF1D-296A2803667B}" type="sibTrans" cxnId="{D0DF8693-91DA-4692-87CE-B69907A3F0CE}">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AB9AD751-9A91-4371-8E38-67F057A268E5}">
      <dgm:prSet phldrT="[Text]"/>
      <dgm:spPr/>
      <dgm:t>
        <a:bodyPr/>
        <a:lstStyle/>
        <a:p>
          <a:r>
            <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rPr>
            <a:t>Model Solution</a:t>
          </a:r>
          <a:endParaRPr lang="en-GB"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D36DA54B-FB4D-46BB-B9AF-7B586EEBE94C}" type="parTrans" cxnId="{30BE54C5-690F-4C28-900D-FB1A2DBED46D}">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B8914F2B-DD02-4851-86FD-46B16B6B8010}" type="sibTrans" cxnId="{30BE54C5-690F-4C28-900D-FB1A2DBED46D}">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95C74283-DD0A-4C6B-8B70-B5FC6DBA0187}">
      <dgm:prSet phldrT="[Text]"/>
      <dgm:spPr/>
      <dgm:t>
        <a:bodyPr/>
        <a:lstStyle/>
        <a:p>
          <a:r>
            <a:rPr lang="en-GB"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Model Implementation</a:t>
          </a:r>
        </a:p>
      </dgm:t>
    </dgm:pt>
    <dgm:pt modelId="{ADDFE664-22AB-4EB6-A94B-9FBDF5B73938}" type="parTrans" cxnId="{B1279E33-0DCF-4062-9196-CA1A8A0F89D0}">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9215A3DC-C7CF-4174-AE3C-8FEE58FFA508}" type="sibTrans" cxnId="{B1279E33-0DCF-4062-9196-CA1A8A0F89D0}">
      <dgm:prSet/>
      <dgm:spPr/>
      <dgm:t>
        <a:bodyPr/>
        <a:lstStyle/>
        <a:p>
          <a:endParaRPr lang="en-GB"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gm:t>
    </dgm:pt>
    <dgm:pt modelId="{3631FC76-3A16-44E0-AD8E-FB04F843C554}" type="pres">
      <dgm:prSet presAssocID="{F6F57ACB-663A-4497-AF13-6EF581407963}" presName="linearFlow" presStyleCnt="0">
        <dgm:presLayoutVars>
          <dgm:resizeHandles val="exact"/>
        </dgm:presLayoutVars>
      </dgm:prSet>
      <dgm:spPr/>
    </dgm:pt>
    <dgm:pt modelId="{0827D057-4FC9-4025-B52A-D34A11F97AD6}" type="pres">
      <dgm:prSet presAssocID="{1F59CA72-B462-4B96-8C61-22F169023C69}" presName="node" presStyleLbl="node1" presStyleIdx="0" presStyleCnt="5" custScaleX="342799">
        <dgm:presLayoutVars>
          <dgm:bulletEnabled val="1"/>
        </dgm:presLayoutVars>
      </dgm:prSet>
      <dgm:spPr/>
    </dgm:pt>
    <dgm:pt modelId="{46878091-4030-4901-A857-D6F497277B81}" type="pres">
      <dgm:prSet presAssocID="{C5CB6337-F8D8-48F6-940E-2260320A5A69}" presName="sibTrans" presStyleLbl="sibTrans2D1" presStyleIdx="0" presStyleCnt="4"/>
      <dgm:spPr/>
    </dgm:pt>
    <dgm:pt modelId="{C562F0F0-762E-4815-920A-AC0B5BF12D16}" type="pres">
      <dgm:prSet presAssocID="{C5CB6337-F8D8-48F6-940E-2260320A5A69}" presName="connectorText" presStyleLbl="sibTrans2D1" presStyleIdx="0" presStyleCnt="4"/>
      <dgm:spPr/>
    </dgm:pt>
    <dgm:pt modelId="{2832E514-6565-4A1C-A8B7-DB31A7C3B102}" type="pres">
      <dgm:prSet presAssocID="{32A697B5-58B6-4C27-A58B-D10B085A1C36}" presName="node" presStyleLbl="node1" presStyleIdx="1" presStyleCnt="5" custScaleX="342799">
        <dgm:presLayoutVars>
          <dgm:bulletEnabled val="1"/>
        </dgm:presLayoutVars>
      </dgm:prSet>
      <dgm:spPr/>
    </dgm:pt>
    <dgm:pt modelId="{CADE4EDA-5D5C-4814-800D-6BF018F0AABE}" type="pres">
      <dgm:prSet presAssocID="{6FBE291E-697B-40E7-8B2E-F8A2DA66FAED}" presName="sibTrans" presStyleLbl="sibTrans2D1" presStyleIdx="1" presStyleCnt="4"/>
      <dgm:spPr/>
    </dgm:pt>
    <dgm:pt modelId="{E6F5FA55-671E-4B93-8324-0C32DFD28343}" type="pres">
      <dgm:prSet presAssocID="{6FBE291E-697B-40E7-8B2E-F8A2DA66FAED}" presName="connectorText" presStyleLbl="sibTrans2D1" presStyleIdx="1" presStyleCnt="4"/>
      <dgm:spPr/>
    </dgm:pt>
    <dgm:pt modelId="{3C5818CE-AA21-4F0C-B737-ACA56901E0FD}" type="pres">
      <dgm:prSet presAssocID="{6B1AD4E1-580A-460F-A45B-6714E238AE79}" presName="node" presStyleLbl="node1" presStyleIdx="2" presStyleCnt="5" custScaleX="342799">
        <dgm:presLayoutVars>
          <dgm:bulletEnabled val="1"/>
        </dgm:presLayoutVars>
      </dgm:prSet>
      <dgm:spPr/>
    </dgm:pt>
    <dgm:pt modelId="{D6AA1E6E-167B-4DD1-85C3-0D808B7CC0BE}" type="pres">
      <dgm:prSet presAssocID="{F6CE8690-9B67-4FBC-BF1D-296A2803667B}" presName="sibTrans" presStyleLbl="sibTrans2D1" presStyleIdx="2" presStyleCnt="4"/>
      <dgm:spPr/>
    </dgm:pt>
    <dgm:pt modelId="{E5B15885-0662-49FB-8911-4F6051EF6486}" type="pres">
      <dgm:prSet presAssocID="{F6CE8690-9B67-4FBC-BF1D-296A2803667B}" presName="connectorText" presStyleLbl="sibTrans2D1" presStyleIdx="2" presStyleCnt="4"/>
      <dgm:spPr/>
    </dgm:pt>
    <dgm:pt modelId="{9B39328D-D292-4E9D-95B4-16D074532521}" type="pres">
      <dgm:prSet presAssocID="{AB9AD751-9A91-4371-8E38-67F057A268E5}" presName="node" presStyleLbl="node1" presStyleIdx="3" presStyleCnt="5" custScaleX="342799">
        <dgm:presLayoutVars>
          <dgm:bulletEnabled val="1"/>
        </dgm:presLayoutVars>
      </dgm:prSet>
      <dgm:spPr/>
    </dgm:pt>
    <dgm:pt modelId="{92128A0C-E27E-4417-905A-8C88E54AB71D}" type="pres">
      <dgm:prSet presAssocID="{B8914F2B-DD02-4851-86FD-46B16B6B8010}" presName="sibTrans" presStyleLbl="sibTrans2D1" presStyleIdx="3" presStyleCnt="4"/>
      <dgm:spPr/>
    </dgm:pt>
    <dgm:pt modelId="{4358A51C-7F3F-44E9-8A23-7EA47411C6A5}" type="pres">
      <dgm:prSet presAssocID="{B8914F2B-DD02-4851-86FD-46B16B6B8010}" presName="connectorText" presStyleLbl="sibTrans2D1" presStyleIdx="3" presStyleCnt="4"/>
      <dgm:spPr/>
    </dgm:pt>
    <dgm:pt modelId="{E5EEE6CD-A3D6-42F4-B0DE-BB56D91BD689}" type="pres">
      <dgm:prSet presAssocID="{95C74283-DD0A-4C6B-8B70-B5FC6DBA0187}" presName="node" presStyleLbl="node1" presStyleIdx="4" presStyleCnt="5" custScaleX="342799">
        <dgm:presLayoutVars>
          <dgm:bulletEnabled val="1"/>
        </dgm:presLayoutVars>
      </dgm:prSet>
      <dgm:spPr/>
    </dgm:pt>
  </dgm:ptLst>
  <dgm:cxnLst>
    <dgm:cxn modelId="{1E1C3C06-B0B6-4B4C-A23C-619B38B3B37F}" type="presOf" srcId="{F6F57ACB-663A-4497-AF13-6EF581407963}" destId="{3631FC76-3A16-44E0-AD8E-FB04F843C554}" srcOrd="0" destOrd="0" presId="urn:microsoft.com/office/officeart/2005/8/layout/process2"/>
    <dgm:cxn modelId="{A4402008-BDBA-4D5B-9516-C05516F2776C}" type="presOf" srcId="{6FBE291E-697B-40E7-8B2E-F8A2DA66FAED}" destId="{CADE4EDA-5D5C-4814-800D-6BF018F0AABE}" srcOrd="0" destOrd="0" presId="urn:microsoft.com/office/officeart/2005/8/layout/process2"/>
    <dgm:cxn modelId="{57F55812-39C3-48E2-A397-D884DF285E47}" type="presOf" srcId="{B8914F2B-DD02-4851-86FD-46B16B6B8010}" destId="{4358A51C-7F3F-44E9-8A23-7EA47411C6A5}" srcOrd="1" destOrd="0" presId="urn:microsoft.com/office/officeart/2005/8/layout/process2"/>
    <dgm:cxn modelId="{D0C9571A-72F9-4CF5-923D-667F1B1CB437}" type="presOf" srcId="{F6CE8690-9B67-4FBC-BF1D-296A2803667B}" destId="{D6AA1E6E-167B-4DD1-85C3-0D808B7CC0BE}" srcOrd="0" destOrd="0" presId="urn:microsoft.com/office/officeart/2005/8/layout/process2"/>
    <dgm:cxn modelId="{F3BE8E1C-14D5-4640-8D84-13CBC2B51BE8}" type="presOf" srcId="{95C74283-DD0A-4C6B-8B70-B5FC6DBA0187}" destId="{E5EEE6CD-A3D6-42F4-B0DE-BB56D91BD689}" srcOrd="0" destOrd="0" presId="urn:microsoft.com/office/officeart/2005/8/layout/process2"/>
    <dgm:cxn modelId="{286A542A-4FF3-48B5-944B-A8D9A60C0D13}" type="presOf" srcId="{AB9AD751-9A91-4371-8E38-67F057A268E5}" destId="{9B39328D-D292-4E9D-95B4-16D074532521}" srcOrd="0" destOrd="0" presId="urn:microsoft.com/office/officeart/2005/8/layout/process2"/>
    <dgm:cxn modelId="{B1279E33-0DCF-4062-9196-CA1A8A0F89D0}" srcId="{F6F57ACB-663A-4497-AF13-6EF581407963}" destId="{95C74283-DD0A-4C6B-8B70-B5FC6DBA0187}" srcOrd="4" destOrd="0" parTransId="{ADDFE664-22AB-4EB6-A94B-9FBDF5B73938}" sibTransId="{9215A3DC-C7CF-4174-AE3C-8FEE58FFA508}"/>
    <dgm:cxn modelId="{779C2366-7F3D-49FD-BCF3-29823755A67F}" type="presOf" srcId="{C5CB6337-F8D8-48F6-940E-2260320A5A69}" destId="{46878091-4030-4901-A857-D6F497277B81}" srcOrd="0" destOrd="0" presId="urn:microsoft.com/office/officeart/2005/8/layout/process2"/>
    <dgm:cxn modelId="{687E614F-8FEC-44E9-9B11-D15F92D7C131}" type="presOf" srcId="{6B1AD4E1-580A-460F-A45B-6714E238AE79}" destId="{3C5818CE-AA21-4F0C-B737-ACA56901E0FD}" srcOrd="0" destOrd="0" presId="urn:microsoft.com/office/officeart/2005/8/layout/process2"/>
    <dgm:cxn modelId="{5C35FC75-14EE-4BA6-B99E-B607C2E6C961}" srcId="{F6F57ACB-663A-4497-AF13-6EF581407963}" destId="{1F59CA72-B462-4B96-8C61-22F169023C69}" srcOrd="0" destOrd="0" parTransId="{4B75955A-CF33-488E-A566-F73A4C6AC44E}" sibTransId="{C5CB6337-F8D8-48F6-940E-2260320A5A69}"/>
    <dgm:cxn modelId="{D0DF8693-91DA-4692-87CE-B69907A3F0CE}" srcId="{F6F57ACB-663A-4497-AF13-6EF581407963}" destId="{6B1AD4E1-580A-460F-A45B-6714E238AE79}" srcOrd="2" destOrd="0" parTransId="{A926E3CF-1193-495B-B61B-8DE60BB77873}" sibTransId="{F6CE8690-9B67-4FBC-BF1D-296A2803667B}"/>
    <dgm:cxn modelId="{7E46B095-565C-42B9-A3C7-4F335213F8DD}" type="presOf" srcId="{C5CB6337-F8D8-48F6-940E-2260320A5A69}" destId="{C562F0F0-762E-4815-920A-AC0B5BF12D16}" srcOrd="1" destOrd="0" presId="urn:microsoft.com/office/officeart/2005/8/layout/process2"/>
    <dgm:cxn modelId="{03B1C0A4-0545-444E-9EDF-F08C452B1DAC}" type="presOf" srcId="{6FBE291E-697B-40E7-8B2E-F8A2DA66FAED}" destId="{E6F5FA55-671E-4B93-8324-0C32DFD28343}" srcOrd="1" destOrd="0" presId="urn:microsoft.com/office/officeart/2005/8/layout/process2"/>
    <dgm:cxn modelId="{D11061AB-3CEB-49CA-B87F-C74122BF2AC3}" srcId="{F6F57ACB-663A-4497-AF13-6EF581407963}" destId="{32A697B5-58B6-4C27-A58B-D10B085A1C36}" srcOrd="1" destOrd="0" parTransId="{8ACDDE15-8922-4FEA-8369-F9F48425CE0F}" sibTransId="{6FBE291E-697B-40E7-8B2E-F8A2DA66FAED}"/>
    <dgm:cxn modelId="{30BE54C5-690F-4C28-900D-FB1A2DBED46D}" srcId="{F6F57ACB-663A-4497-AF13-6EF581407963}" destId="{AB9AD751-9A91-4371-8E38-67F057A268E5}" srcOrd="3" destOrd="0" parTransId="{D36DA54B-FB4D-46BB-B9AF-7B586EEBE94C}" sibTransId="{B8914F2B-DD02-4851-86FD-46B16B6B8010}"/>
    <dgm:cxn modelId="{006C96CA-6186-4EDD-BB86-A4C42DE20104}" type="presOf" srcId="{32A697B5-58B6-4C27-A58B-D10B085A1C36}" destId="{2832E514-6565-4A1C-A8B7-DB31A7C3B102}" srcOrd="0" destOrd="0" presId="urn:microsoft.com/office/officeart/2005/8/layout/process2"/>
    <dgm:cxn modelId="{B0A96ED5-008C-4351-B265-ABCC735BBE4C}" type="presOf" srcId="{1F59CA72-B462-4B96-8C61-22F169023C69}" destId="{0827D057-4FC9-4025-B52A-D34A11F97AD6}" srcOrd="0" destOrd="0" presId="urn:microsoft.com/office/officeart/2005/8/layout/process2"/>
    <dgm:cxn modelId="{2BB66ED6-F794-4C86-84AE-61585206372D}" type="presOf" srcId="{F6CE8690-9B67-4FBC-BF1D-296A2803667B}" destId="{E5B15885-0662-49FB-8911-4F6051EF6486}" srcOrd="1" destOrd="0" presId="urn:microsoft.com/office/officeart/2005/8/layout/process2"/>
    <dgm:cxn modelId="{B97D48D9-F762-402E-80C2-95CE9258927D}" type="presOf" srcId="{B8914F2B-DD02-4851-86FD-46B16B6B8010}" destId="{92128A0C-E27E-4417-905A-8C88E54AB71D}" srcOrd="0" destOrd="0" presId="urn:microsoft.com/office/officeart/2005/8/layout/process2"/>
    <dgm:cxn modelId="{10D7B659-FAAB-46BA-8BE6-9E3AFA73ED65}" type="presParOf" srcId="{3631FC76-3A16-44E0-AD8E-FB04F843C554}" destId="{0827D057-4FC9-4025-B52A-D34A11F97AD6}" srcOrd="0" destOrd="0" presId="urn:microsoft.com/office/officeart/2005/8/layout/process2"/>
    <dgm:cxn modelId="{705E2B38-6446-4069-9AFD-9546172911DC}" type="presParOf" srcId="{3631FC76-3A16-44E0-AD8E-FB04F843C554}" destId="{46878091-4030-4901-A857-D6F497277B81}" srcOrd="1" destOrd="0" presId="urn:microsoft.com/office/officeart/2005/8/layout/process2"/>
    <dgm:cxn modelId="{5A90CDAE-776E-4EA4-A5C4-14F0DCAD61C4}" type="presParOf" srcId="{46878091-4030-4901-A857-D6F497277B81}" destId="{C562F0F0-762E-4815-920A-AC0B5BF12D16}" srcOrd="0" destOrd="0" presId="urn:microsoft.com/office/officeart/2005/8/layout/process2"/>
    <dgm:cxn modelId="{646E3247-8BBD-4867-B050-CC0BB85FCC2A}" type="presParOf" srcId="{3631FC76-3A16-44E0-AD8E-FB04F843C554}" destId="{2832E514-6565-4A1C-A8B7-DB31A7C3B102}" srcOrd="2" destOrd="0" presId="urn:microsoft.com/office/officeart/2005/8/layout/process2"/>
    <dgm:cxn modelId="{ABF77587-89B1-4C4A-8AAC-9E504539E26E}" type="presParOf" srcId="{3631FC76-3A16-44E0-AD8E-FB04F843C554}" destId="{CADE4EDA-5D5C-4814-800D-6BF018F0AABE}" srcOrd="3" destOrd="0" presId="urn:microsoft.com/office/officeart/2005/8/layout/process2"/>
    <dgm:cxn modelId="{9202D22C-D7A6-460C-8B69-917A99FD28EF}" type="presParOf" srcId="{CADE4EDA-5D5C-4814-800D-6BF018F0AABE}" destId="{E6F5FA55-671E-4B93-8324-0C32DFD28343}" srcOrd="0" destOrd="0" presId="urn:microsoft.com/office/officeart/2005/8/layout/process2"/>
    <dgm:cxn modelId="{240956B7-5E1D-4832-9D2D-4A49007FDF44}" type="presParOf" srcId="{3631FC76-3A16-44E0-AD8E-FB04F843C554}" destId="{3C5818CE-AA21-4F0C-B737-ACA56901E0FD}" srcOrd="4" destOrd="0" presId="urn:microsoft.com/office/officeart/2005/8/layout/process2"/>
    <dgm:cxn modelId="{2BAF2D00-C3E2-41A1-BC59-CAFAD9E2F8D0}" type="presParOf" srcId="{3631FC76-3A16-44E0-AD8E-FB04F843C554}" destId="{D6AA1E6E-167B-4DD1-85C3-0D808B7CC0BE}" srcOrd="5" destOrd="0" presId="urn:microsoft.com/office/officeart/2005/8/layout/process2"/>
    <dgm:cxn modelId="{EF0E43C2-AD45-4D45-B0A2-CCE39AC1E8E6}" type="presParOf" srcId="{D6AA1E6E-167B-4DD1-85C3-0D808B7CC0BE}" destId="{E5B15885-0662-49FB-8911-4F6051EF6486}" srcOrd="0" destOrd="0" presId="urn:microsoft.com/office/officeart/2005/8/layout/process2"/>
    <dgm:cxn modelId="{E5B8C9C5-EE2B-4105-A636-0CE137EA2868}" type="presParOf" srcId="{3631FC76-3A16-44E0-AD8E-FB04F843C554}" destId="{9B39328D-D292-4E9D-95B4-16D074532521}" srcOrd="6" destOrd="0" presId="urn:microsoft.com/office/officeart/2005/8/layout/process2"/>
    <dgm:cxn modelId="{B6DCB284-9FC7-440E-8A0A-1D2465207084}" type="presParOf" srcId="{3631FC76-3A16-44E0-AD8E-FB04F843C554}" destId="{92128A0C-E27E-4417-905A-8C88E54AB71D}" srcOrd="7" destOrd="0" presId="urn:microsoft.com/office/officeart/2005/8/layout/process2"/>
    <dgm:cxn modelId="{11400DD5-CA84-442B-8ABC-7BBC9D56940D}" type="presParOf" srcId="{92128A0C-E27E-4417-905A-8C88E54AB71D}" destId="{4358A51C-7F3F-44E9-8A23-7EA47411C6A5}" srcOrd="0" destOrd="0" presId="urn:microsoft.com/office/officeart/2005/8/layout/process2"/>
    <dgm:cxn modelId="{3D711C09-55F0-4BDE-8DBF-F4F911A23F2E}" type="presParOf" srcId="{3631FC76-3A16-44E0-AD8E-FB04F843C554}" destId="{E5EEE6CD-A3D6-42F4-B0DE-BB56D91BD689}"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7D057-4FC9-4025-B52A-D34A11F97AD6}">
      <dsp:nvSpPr>
        <dsp:cNvPr id="0" name=""/>
        <dsp:cNvSpPr/>
      </dsp:nvSpPr>
      <dsp:spPr>
        <a:xfrm>
          <a:off x="3075704" y="640"/>
          <a:ext cx="4627426" cy="749941"/>
        </a:xfrm>
        <a:prstGeom prst="roundRect">
          <a:avLst>
            <a:gd name="adj" fmla="val 10000"/>
          </a:avLst>
        </a:prstGeom>
        <a:gradFill rotWithShape="0">
          <a:gsLst>
            <a:gs pos="0">
              <a:schemeClr val="accent4">
                <a:hueOff val="0"/>
                <a:satOff val="0"/>
                <a:lumOff val="0"/>
                <a:alphaOff val="0"/>
                <a:tint val="94000"/>
                <a:satMod val="100000"/>
                <a:lumMod val="104000"/>
              </a:schemeClr>
            </a:gs>
            <a:gs pos="69000">
              <a:schemeClr val="accent4">
                <a:hueOff val="0"/>
                <a:satOff val="0"/>
                <a:lumOff val="0"/>
                <a:alphaOff val="0"/>
                <a:shade val="86000"/>
                <a:satMod val="130000"/>
                <a:lumMod val="102000"/>
              </a:schemeClr>
            </a:gs>
            <a:gs pos="100000">
              <a:schemeClr val="accent4">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Observation</a:t>
          </a:r>
        </a:p>
      </dsp:txBody>
      <dsp:txXfrm>
        <a:off x="3097669" y="22605"/>
        <a:ext cx="4583496" cy="706011"/>
      </dsp:txXfrm>
    </dsp:sp>
    <dsp:sp modelId="{46878091-4030-4901-A857-D6F497277B81}">
      <dsp:nvSpPr>
        <dsp:cNvPr id="0" name=""/>
        <dsp:cNvSpPr/>
      </dsp:nvSpPr>
      <dsp:spPr>
        <a:xfrm rot="5400000">
          <a:off x="5248803" y="769331"/>
          <a:ext cx="281228" cy="337473"/>
        </a:xfrm>
        <a:prstGeom prst="rightArrow">
          <a:avLst>
            <a:gd name="adj1" fmla="val 60000"/>
            <a:gd name="adj2" fmla="val 50000"/>
          </a:avLst>
        </a:prstGeom>
        <a:gradFill rotWithShape="0">
          <a:gsLst>
            <a:gs pos="0">
              <a:schemeClr val="accent4">
                <a:hueOff val="0"/>
                <a:satOff val="0"/>
                <a:lumOff val="0"/>
                <a:alphaOff val="0"/>
                <a:tint val="94000"/>
                <a:satMod val="100000"/>
                <a:lumMod val="104000"/>
              </a:schemeClr>
            </a:gs>
            <a:gs pos="69000">
              <a:schemeClr val="accent4">
                <a:hueOff val="0"/>
                <a:satOff val="0"/>
                <a:lumOff val="0"/>
                <a:alphaOff val="0"/>
                <a:shade val="86000"/>
                <a:satMod val="130000"/>
                <a:lumMod val="102000"/>
              </a:schemeClr>
            </a:gs>
            <a:gs pos="100000">
              <a:schemeClr val="accent4">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sp:txBody>
      <dsp:txXfrm rot="-5400000">
        <a:off x="5288176" y="797453"/>
        <a:ext cx="202483" cy="196860"/>
      </dsp:txXfrm>
    </dsp:sp>
    <dsp:sp modelId="{2832E514-6565-4A1C-A8B7-DB31A7C3B102}">
      <dsp:nvSpPr>
        <dsp:cNvPr id="0" name=""/>
        <dsp:cNvSpPr/>
      </dsp:nvSpPr>
      <dsp:spPr>
        <a:xfrm>
          <a:off x="3075704" y="1125553"/>
          <a:ext cx="4627426" cy="749941"/>
        </a:xfrm>
        <a:prstGeom prst="roundRect">
          <a:avLst>
            <a:gd name="adj" fmla="val 10000"/>
          </a:avLst>
        </a:prstGeom>
        <a:gradFill rotWithShape="0">
          <a:gsLst>
            <a:gs pos="0">
              <a:schemeClr val="accent4">
                <a:hueOff val="1072700"/>
                <a:satOff val="471"/>
                <a:lumOff val="-1372"/>
                <a:alphaOff val="0"/>
                <a:tint val="94000"/>
                <a:satMod val="100000"/>
                <a:lumMod val="104000"/>
              </a:schemeClr>
            </a:gs>
            <a:gs pos="69000">
              <a:schemeClr val="accent4">
                <a:hueOff val="1072700"/>
                <a:satOff val="471"/>
                <a:lumOff val="-1372"/>
                <a:alphaOff val="0"/>
                <a:shade val="86000"/>
                <a:satMod val="130000"/>
                <a:lumMod val="102000"/>
              </a:schemeClr>
            </a:gs>
            <a:gs pos="100000">
              <a:schemeClr val="accent4">
                <a:hueOff val="1072700"/>
                <a:satOff val="471"/>
                <a:lumOff val="-1372"/>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rPr>
            <a:t>Definition of the Problem</a:t>
          </a:r>
          <a:endParaRPr lang="en-GB" sz="19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dsp:txBody>
      <dsp:txXfrm>
        <a:off x="3097669" y="1147518"/>
        <a:ext cx="4583496" cy="706011"/>
      </dsp:txXfrm>
    </dsp:sp>
    <dsp:sp modelId="{CADE4EDA-5D5C-4814-800D-6BF018F0AABE}">
      <dsp:nvSpPr>
        <dsp:cNvPr id="0" name=""/>
        <dsp:cNvSpPr/>
      </dsp:nvSpPr>
      <dsp:spPr>
        <a:xfrm rot="5400000">
          <a:off x="5248803" y="1894243"/>
          <a:ext cx="281228" cy="337473"/>
        </a:xfrm>
        <a:prstGeom prst="rightArrow">
          <a:avLst>
            <a:gd name="adj1" fmla="val 60000"/>
            <a:gd name="adj2" fmla="val 50000"/>
          </a:avLst>
        </a:prstGeom>
        <a:gradFill rotWithShape="0">
          <a:gsLst>
            <a:gs pos="0">
              <a:schemeClr val="accent4">
                <a:hueOff val="1430267"/>
                <a:satOff val="628"/>
                <a:lumOff val="-1830"/>
                <a:alphaOff val="0"/>
                <a:tint val="94000"/>
                <a:satMod val="100000"/>
                <a:lumMod val="104000"/>
              </a:schemeClr>
            </a:gs>
            <a:gs pos="69000">
              <a:schemeClr val="accent4">
                <a:hueOff val="1430267"/>
                <a:satOff val="628"/>
                <a:lumOff val="-1830"/>
                <a:alphaOff val="0"/>
                <a:shade val="86000"/>
                <a:satMod val="130000"/>
                <a:lumMod val="102000"/>
              </a:schemeClr>
            </a:gs>
            <a:gs pos="100000">
              <a:schemeClr val="accent4">
                <a:hueOff val="1430267"/>
                <a:satOff val="628"/>
                <a:lumOff val="-183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sp:txBody>
      <dsp:txXfrm rot="-5400000">
        <a:off x="5288176" y="1922365"/>
        <a:ext cx="202483" cy="196860"/>
      </dsp:txXfrm>
    </dsp:sp>
    <dsp:sp modelId="{3C5818CE-AA21-4F0C-B737-ACA56901E0FD}">
      <dsp:nvSpPr>
        <dsp:cNvPr id="0" name=""/>
        <dsp:cNvSpPr/>
      </dsp:nvSpPr>
      <dsp:spPr>
        <a:xfrm>
          <a:off x="3075704" y="2250465"/>
          <a:ext cx="4627426" cy="749941"/>
        </a:xfrm>
        <a:prstGeom prst="roundRect">
          <a:avLst>
            <a:gd name="adj" fmla="val 10000"/>
          </a:avLst>
        </a:prstGeom>
        <a:gradFill rotWithShape="0">
          <a:gsLst>
            <a:gs pos="0">
              <a:schemeClr val="accent4">
                <a:hueOff val="2145400"/>
                <a:satOff val="942"/>
                <a:lumOff val="-2745"/>
                <a:alphaOff val="0"/>
                <a:tint val="94000"/>
                <a:satMod val="100000"/>
                <a:lumMod val="104000"/>
              </a:schemeClr>
            </a:gs>
            <a:gs pos="69000">
              <a:schemeClr val="accent4">
                <a:hueOff val="2145400"/>
                <a:satOff val="942"/>
                <a:lumOff val="-2745"/>
                <a:alphaOff val="0"/>
                <a:shade val="86000"/>
                <a:satMod val="130000"/>
                <a:lumMod val="102000"/>
              </a:schemeClr>
            </a:gs>
            <a:gs pos="100000">
              <a:schemeClr val="accent4">
                <a:hueOff val="2145400"/>
                <a:satOff val="942"/>
                <a:lumOff val="-2745"/>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Model Construction</a:t>
          </a:r>
        </a:p>
      </dsp:txBody>
      <dsp:txXfrm>
        <a:off x="3097669" y="2272430"/>
        <a:ext cx="4583496" cy="706011"/>
      </dsp:txXfrm>
    </dsp:sp>
    <dsp:sp modelId="{D6AA1E6E-167B-4DD1-85C3-0D808B7CC0BE}">
      <dsp:nvSpPr>
        <dsp:cNvPr id="0" name=""/>
        <dsp:cNvSpPr/>
      </dsp:nvSpPr>
      <dsp:spPr>
        <a:xfrm rot="5400000">
          <a:off x="5248803" y="3019155"/>
          <a:ext cx="281228" cy="337473"/>
        </a:xfrm>
        <a:prstGeom prst="rightArrow">
          <a:avLst>
            <a:gd name="adj1" fmla="val 60000"/>
            <a:gd name="adj2" fmla="val 50000"/>
          </a:avLst>
        </a:prstGeom>
        <a:gradFill rotWithShape="0">
          <a:gsLst>
            <a:gs pos="0">
              <a:schemeClr val="accent4">
                <a:hueOff val="2860534"/>
                <a:satOff val="1255"/>
                <a:lumOff val="-3660"/>
                <a:alphaOff val="0"/>
                <a:tint val="94000"/>
                <a:satMod val="100000"/>
                <a:lumMod val="104000"/>
              </a:schemeClr>
            </a:gs>
            <a:gs pos="69000">
              <a:schemeClr val="accent4">
                <a:hueOff val="2860534"/>
                <a:satOff val="1255"/>
                <a:lumOff val="-3660"/>
                <a:alphaOff val="0"/>
                <a:shade val="86000"/>
                <a:satMod val="130000"/>
                <a:lumMod val="102000"/>
              </a:schemeClr>
            </a:gs>
            <a:gs pos="100000">
              <a:schemeClr val="accent4">
                <a:hueOff val="2860534"/>
                <a:satOff val="1255"/>
                <a:lumOff val="-366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sp:txBody>
      <dsp:txXfrm rot="-5400000">
        <a:off x="5288176" y="3047277"/>
        <a:ext cx="202483" cy="196860"/>
      </dsp:txXfrm>
    </dsp:sp>
    <dsp:sp modelId="{9B39328D-D292-4E9D-95B4-16D074532521}">
      <dsp:nvSpPr>
        <dsp:cNvPr id="0" name=""/>
        <dsp:cNvSpPr/>
      </dsp:nvSpPr>
      <dsp:spPr>
        <a:xfrm>
          <a:off x="3075704" y="3375378"/>
          <a:ext cx="4627426" cy="749941"/>
        </a:xfrm>
        <a:prstGeom prst="roundRect">
          <a:avLst>
            <a:gd name="adj" fmla="val 10000"/>
          </a:avLst>
        </a:prstGeom>
        <a:gradFill rotWithShape="0">
          <a:gsLst>
            <a:gs pos="0">
              <a:schemeClr val="accent4">
                <a:hueOff val="3218100"/>
                <a:satOff val="1412"/>
                <a:lumOff val="-4117"/>
                <a:alphaOff val="0"/>
                <a:tint val="94000"/>
                <a:satMod val="100000"/>
                <a:lumMod val="104000"/>
              </a:schemeClr>
            </a:gs>
            <a:gs pos="69000">
              <a:schemeClr val="accent4">
                <a:hueOff val="3218100"/>
                <a:satOff val="1412"/>
                <a:lumOff val="-4117"/>
                <a:alphaOff val="0"/>
                <a:shade val="86000"/>
                <a:satMod val="130000"/>
                <a:lumMod val="102000"/>
              </a:schemeClr>
            </a:gs>
            <a:gs pos="100000">
              <a:schemeClr val="accent4">
                <a:hueOff val="3218100"/>
                <a:satOff val="1412"/>
                <a:lumOff val="-4117"/>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rPr>
            <a:t>Model Solution</a:t>
          </a:r>
          <a:endParaRPr lang="en-GB"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dsp:txBody>
      <dsp:txXfrm>
        <a:off x="3097669" y="3397343"/>
        <a:ext cx="4583496" cy="706011"/>
      </dsp:txXfrm>
    </dsp:sp>
    <dsp:sp modelId="{92128A0C-E27E-4417-905A-8C88E54AB71D}">
      <dsp:nvSpPr>
        <dsp:cNvPr id="0" name=""/>
        <dsp:cNvSpPr/>
      </dsp:nvSpPr>
      <dsp:spPr>
        <a:xfrm rot="5400000">
          <a:off x="5248803" y="4144068"/>
          <a:ext cx="281228" cy="337473"/>
        </a:xfrm>
        <a:prstGeom prst="rightArrow">
          <a:avLst>
            <a:gd name="adj1" fmla="val 60000"/>
            <a:gd name="adj2" fmla="val 50000"/>
          </a:avLst>
        </a:prstGeom>
        <a:gradFill rotWithShape="0">
          <a:gsLst>
            <a:gs pos="0">
              <a:schemeClr val="accent4">
                <a:hueOff val="4290800"/>
                <a:satOff val="1883"/>
                <a:lumOff val="-5490"/>
                <a:alphaOff val="0"/>
                <a:tint val="94000"/>
                <a:satMod val="100000"/>
                <a:lumMod val="104000"/>
              </a:schemeClr>
            </a:gs>
            <a:gs pos="69000">
              <a:schemeClr val="accent4">
                <a:hueOff val="4290800"/>
                <a:satOff val="1883"/>
                <a:lumOff val="-5490"/>
                <a:alphaOff val="0"/>
                <a:shade val="86000"/>
                <a:satMod val="130000"/>
                <a:lumMod val="102000"/>
              </a:schemeClr>
            </a:gs>
            <a:gs pos="100000">
              <a:schemeClr val="accent4">
                <a:hueOff val="4290800"/>
                <a:satOff val="1883"/>
                <a:lumOff val="-549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dsp:txBody>
      <dsp:txXfrm rot="-5400000">
        <a:off x="5288176" y="4172190"/>
        <a:ext cx="202483" cy="196860"/>
      </dsp:txXfrm>
    </dsp:sp>
    <dsp:sp modelId="{E5EEE6CD-A3D6-42F4-B0DE-BB56D91BD689}">
      <dsp:nvSpPr>
        <dsp:cNvPr id="0" name=""/>
        <dsp:cNvSpPr/>
      </dsp:nvSpPr>
      <dsp:spPr>
        <a:xfrm>
          <a:off x="3075704" y="4500290"/>
          <a:ext cx="4627426" cy="749941"/>
        </a:xfrm>
        <a:prstGeom prst="roundRect">
          <a:avLst>
            <a:gd name="adj" fmla="val 10000"/>
          </a:avLst>
        </a:prstGeom>
        <a:gradFill rotWithShape="0">
          <a:gsLst>
            <a:gs pos="0">
              <a:schemeClr val="accent4">
                <a:hueOff val="4290800"/>
                <a:satOff val="1883"/>
                <a:lumOff val="-5490"/>
                <a:alphaOff val="0"/>
                <a:tint val="94000"/>
                <a:satMod val="100000"/>
                <a:lumMod val="104000"/>
              </a:schemeClr>
            </a:gs>
            <a:gs pos="69000">
              <a:schemeClr val="accent4">
                <a:hueOff val="4290800"/>
                <a:satOff val="1883"/>
                <a:lumOff val="-5490"/>
                <a:alphaOff val="0"/>
                <a:shade val="86000"/>
                <a:satMod val="130000"/>
                <a:lumMod val="102000"/>
              </a:schemeClr>
            </a:gs>
            <a:gs pos="100000">
              <a:schemeClr val="accent4">
                <a:hueOff val="4290800"/>
                <a:satOff val="1883"/>
                <a:lumOff val="-549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Model Implementation</a:t>
          </a:r>
        </a:p>
      </dsp:txBody>
      <dsp:txXfrm>
        <a:off x="3097669" y="4522255"/>
        <a:ext cx="4583496" cy="70601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391DB-6561-4B0A-B51D-4538E8D62663}" type="datetimeFigureOut">
              <a:rPr lang="en-US" smtClean="0"/>
              <a:t>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5ADB19-9D69-4CBD-878E-43C259C60500}" type="slidenum">
              <a:rPr lang="en-US" smtClean="0"/>
              <a:t>‹#›</a:t>
            </a:fld>
            <a:endParaRPr lang="en-US"/>
          </a:p>
        </p:txBody>
      </p:sp>
    </p:spTree>
    <p:extLst>
      <p:ext uri="{BB962C8B-B14F-4D97-AF65-F5344CB8AC3E}">
        <p14:creationId xmlns:p14="http://schemas.microsoft.com/office/powerpoint/2010/main" val="3521420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 of or is..</a:t>
            </a:r>
          </a:p>
        </p:txBody>
      </p:sp>
      <p:sp>
        <p:nvSpPr>
          <p:cNvPr id="4" name="Slide Number Placeholder 3"/>
          <p:cNvSpPr>
            <a:spLocks noGrp="1"/>
          </p:cNvSpPr>
          <p:nvPr>
            <p:ph type="sldNum" sz="quarter" idx="5"/>
          </p:nvPr>
        </p:nvSpPr>
        <p:spPr/>
        <p:txBody>
          <a:bodyPr/>
          <a:lstStyle/>
          <a:p>
            <a:fld id="{2B5ADB19-9D69-4CBD-878E-43C259C60500}" type="slidenum">
              <a:rPr lang="en-US" smtClean="0"/>
              <a:t>5</a:t>
            </a:fld>
            <a:endParaRPr lang="en-US"/>
          </a:p>
        </p:txBody>
      </p:sp>
    </p:spTree>
    <p:extLst>
      <p:ext uri="{BB962C8B-B14F-4D97-AF65-F5344CB8AC3E}">
        <p14:creationId xmlns:p14="http://schemas.microsoft.com/office/powerpoint/2010/main" val="3435562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3299B3-B420-4968-A79A-5C06FB07006C}"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237051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299B3-B420-4968-A79A-5C06FB07006C}"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339893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299B3-B420-4968-A79A-5C06FB07006C}"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1743877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3299B3-B420-4968-A79A-5C06FB07006C}"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558522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3299B3-B420-4968-A79A-5C06FB07006C}"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2334779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3299B3-B420-4968-A79A-5C06FB07006C}"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243471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3299B3-B420-4968-A79A-5C06FB07006C}" type="datetimeFigureOut">
              <a:rPr lang="en-US" smtClean="0"/>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755900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299B3-B420-4968-A79A-5C06FB07006C}"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3664967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299B3-B420-4968-A79A-5C06FB07006C}"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2301379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299B3-B420-4968-A79A-5C06FB07006C}"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407545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299B3-B420-4968-A79A-5C06FB07006C}"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90450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299B3-B420-4968-A79A-5C06FB07006C}"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4B025-03C9-4270-B74B-AE6F76936D02}"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47989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299B3-B420-4968-A79A-5C06FB07006C}"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4228242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33299B3-B420-4968-A79A-5C06FB07006C}"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3190925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33299B3-B420-4968-A79A-5C06FB07006C}"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1313106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299B3-B420-4968-A79A-5C06FB07006C}"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3911924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299B3-B420-4968-A79A-5C06FB07006C}"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4B025-03C9-4270-B74B-AE6F76936D02}" type="slidenum">
              <a:rPr lang="en-US" smtClean="0"/>
              <a:t>‹#›</a:t>
            </a:fld>
            <a:endParaRPr lang="en-US"/>
          </a:p>
        </p:txBody>
      </p:sp>
    </p:spTree>
    <p:extLst>
      <p:ext uri="{BB962C8B-B14F-4D97-AF65-F5344CB8AC3E}">
        <p14:creationId xmlns:p14="http://schemas.microsoft.com/office/powerpoint/2010/main" val="2561821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33299B3-B420-4968-A79A-5C06FB07006C}" type="datetimeFigureOut">
              <a:rPr lang="en-US" smtClean="0"/>
              <a:t>2/11/2025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464B025-03C9-4270-B74B-AE6F76936D02}" type="slidenum">
              <a:rPr lang="en-US" smtClean="0"/>
              <a:t>‹#›</a:t>
            </a:fld>
            <a:endParaRPr lang="en-US"/>
          </a:p>
        </p:txBody>
      </p:sp>
    </p:spTree>
    <p:extLst>
      <p:ext uri="{BB962C8B-B14F-4D97-AF65-F5344CB8AC3E}">
        <p14:creationId xmlns:p14="http://schemas.microsoft.com/office/powerpoint/2010/main" val="60852814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E382C-F4F7-58D5-A7DC-112A79B33C37}"/>
              </a:ext>
            </a:extLst>
          </p:cNvPr>
          <p:cNvSpPr>
            <a:spLocks noGrp="1"/>
          </p:cNvSpPr>
          <p:nvPr>
            <p:ph type="ctrTitle"/>
          </p:nvPr>
        </p:nvSpPr>
        <p:spPr>
          <a:xfrm>
            <a:off x="1595269" y="1534161"/>
            <a:ext cx="9001462" cy="2062480"/>
          </a:xfrm>
        </p:spPr>
        <p:txBody>
          <a:bodyPr>
            <a:normAutofit/>
          </a:bodyPr>
          <a:lstStyle/>
          <a:p>
            <a:r>
              <a:rPr lang="en-US" sz="4000" dirty="0"/>
              <a:t>Operations Research</a:t>
            </a:r>
            <a:br>
              <a:rPr lang="en-US" sz="4000" dirty="0"/>
            </a:br>
            <a:r>
              <a:rPr lang="en-US" sz="4000" dirty="0"/>
              <a:t> </a:t>
            </a:r>
          </a:p>
        </p:txBody>
      </p:sp>
      <p:sp>
        <p:nvSpPr>
          <p:cNvPr id="3" name="Subtitle 2">
            <a:extLst>
              <a:ext uri="{FF2B5EF4-FFF2-40B4-BE49-F238E27FC236}">
                <a16:creationId xmlns:a16="http://schemas.microsoft.com/office/drawing/2014/main" id="{76E3A155-1AAE-32F8-7C7E-EE844CCCE5EA}"/>
              </a:ext>
            </a:extLst>
          </p:cNvPr>
          <p:cNvSpPr>
            <a:spLocks noGrp="1"/>
          </p:cNvSpPr>
          <p:nvPr>
            <p:ph type="subTitle" idx="1"/>
          </p:nvPr>
        </p:nvSpPr>
        <p:spPr>
          <a:xfrm>
            <a:off x="1595269" y="4770437"/>
            <a:ext cx="9001462" cy="553403"/>
          </a:xfrm>
        </p:spPr>
        <p:txBody>
          <a:bodyPr>
            <a:normAutofit/>
          </a:bodyPr>
          <a:lstStyle/>
          <a:p>
            <a:r>
              <a:rPr lang="en-US" dirty="0"/>
              <a:t>Dr. Mostafa Ashour</a:t>
            </a:r>
          </a:p>
          <a:p>
            <a:endParaRPr lang="en-US" dirty="0"/>
          </a:p>
        </p:txBody>
      </p:sp>
    </p:spTree>
    <p:extLst>
      <p:ext uri="{BB962C8B-B14F-4D97-AF65-F5344CB8AC3E}">
        <p14:creationId xmlns:p14="http://schemas.microsoft.com/office/powerpoint/2010/main" val="3175956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240F3-E489-6751-EA7F-0208D246A919}"/>
              </a:ext>
            </a:extLst>
          </p:cNvPr>
          <p:cNvSpPr>
            <a:spLocks noGrp="1"/>
          </p:cNvSpPr>
          <p:nvPr>
            <p:ph type="title"/>
          </p:nvPr>
        </p:nvSpPr>
        <p:spPr>
          <a:xfrm>
            <a:off x="759655" y="2264063"/>
            <a:ext cx="6272517" cy="2609631"/>
          </a:xfrm>
        </p:spPr>
        <p:txBody>
          <a:bodyPr vert="horz" lIns="91440" tIns="45720" rIns="91440" bIns="45720" rtlCol="0" anchor="ctr">
            <a:normAutofit/>
          </a:bodyPr>
          <a:lstStyle/>
          <a:p>
            <a:r>
              <a:rPr lang="en-US" dirty="0"/>
              <a:t>Operations Research</a:t>
            </a:r>
            <a:br>
              <a:rPr lang="en-US" dirty="0"/>
            </a:br>
            <a:r>
              <a:rPr lang="en-US" sz="2800" dirty="0"/>
              <a:t>An Introduction</a:t>
            </a:r>
            <a:br>
              <a:rPr lang="en-US" dirty="0"/>
            </a:br>
            <a:br>
              <a:rPr lang="en-US" dirty="0"/>
            </a:br>
            <a:r>
              <a:rPr lang="en-US" sz="1600" dirty="0"/>
              <a:t>Hamdy Taha</a:t>
            </a:r>
          </a:p>
        </p:txBody>
      </p:sp>
      <p:pic>
        <p:nvPicPr>
          <p:cNvPr id="5" name="Content Placeholder 4" descr="A book cover of a book&#10;&#10;Description automatically generated">
            <a:extLst>
              <a:ext uri="{FF2B5EF4-FFF2-40B4-BE49-F238E27FC236}">
                <a16:creationId xmlns:a16="http://schemas.microsoft.com/office/drawing/2014/main" id="{683CDAB3-B611-A141-CE79-99388644EEA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78736" y="1173838"/>
            <a:ext cx="3402767" cy="4790082"/>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022678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1359A-013C-98DE-C018-2D8387538BE7}"/>
              </a:ext>
            </a:extLst>
          </p:cNvPr>
          <p:cNvSpPr>
            <a:spLocks noGrp="1"/>
          </p:cNvSpPr>
          <p:nvPr>
            <p:ph type="title"/>
          </p:nvPr>
        </p:nvSpPr>
        <p:spPr/>
        <p:txBody>
          <a:bodyPr/>
          <a:lstStyle/>
          <a:p>
            <a:r>
              <a:rPr lang="en-GB" altLang="en-US" dirty="0"/>
              <a:t>Terminology</a:t>
            </a:r>
            <a:endParaRPr lang="en-US" dirty="0"/>
          </a:p>
        </p:txBody>
      </p:sp>
      <p:sp>
        <p:nvSpPr>
          <p:cNvPr id="3" name="Content Placeholder 2">
            <a:extLst>
              <a:ext uri="{FF2B5EF4-FFF2-40B4-BE49-F238E27FC236}">
                <a16:creationId xmlns:a16="http://schemas.microsoft.com/office/drawing/2014/main" id="{ECCBCD49-CE06-51F1-5A19-A8CC1F6D6B4D}"/>
              </a:ext>
            </a:extLst>
          </p:cNvPr>
          <p:cNvSpPr>
            <a:spLocks noGrp="1"/>
          </p:cNvSpPr>
          <p:nvPr>
            <p:ph idx="1"/>
          </p:nvPr>
        </p:nvSpPr>
        <p:spPr>
          <a:xfrm>
            <a:off x="713509" y="1745673"/>
            <a:ext cx="10764982" cy="4793671"/>
          </a:xfrm>
        </p:spPr>
        <p:txBody>
          <a:bodyPr>
            <a:normAutofit/>
          </a:bodyPr>
          <a:lstStyle/>
          <a:p>
            <a:r>
              <a:rPr lang="en-GB" altLang="en-US" sz="1800" dirty="0"/>
              <a:t>The British/Europeans refer to “operational research”, the Americans to “operations research” - but both are often shortened to just “OR” (which is the term we will use).</a:t>
            </a:r>
          </a:p>
          <a:p>
            <a:pPr marL="0" indent="0">
              <a:buNone/>
            </a:pPr>
            <a:endParaRPr lang="en-GB" altLang="en-US" sz="1800" dirty="0"/>
          </a:p>
          <a:p>
            <a:r>
              <a:rPr lang="en-GB" altLang="en-US" sz="1800" dirty="0"/>
              <a:t>Another term which is used for this field is “management science” (“MS”). </a:t>
            </a:r>
          </a:p>
          <a:p>
            <a:pPr marL="0" indent="0">
              <a:buNone/>
            </a:pPr>
            <a:endParaRPr lang="en-GB" altLang="en-US" sz="1800" dirty="0"/>
          </a:p>
          <a:p>
            <a:r>
              <a:rPr lang="en-GB" altLang="en-US" sz="1800" dirty="0"/>
              <a:t>The Americans sometimes combine the terms OR and MS together and say “OR/MS” or “ORMS”. </a:t>
            </a:r>
          </a:p>
          <a:p>
            <a:pPr marL="0" indent="0">
              <a:buNone/>
            </a:pPr>
            <a:endParaRPr lang="en-GB" altLang="en-US" sz="1800" dirty="0"/>
          </a:p>
          <a:p>
            <a:r>
              <a:rPr lang="en-GB" altLang="en-US" sz="1800" dirty="0"/>
              <a:t>Yet other terms sometimes used are “industrial engineering” (“IE”) and “decision science” (“DS”). </a:t>
            </a:r>
          </a:p>
          <a:p>
            <a:pPr marL="0" indent="0">
              <a:buNone/>
            </a:pPr>
            <a:endParaRPr lang="en-GB" altLang="en-US" sz="1800" dirty="0"/>
          </a:p>
          <a:p>
            <a:r>
              <a:rPr lang="en-GB" altLang="en-US" sz="1800" dirty="0"/>
              <a:t>In recent years there has been a move towards a standardization upon a single term for the field, namely the term “OR”.</a:t>
            </a:r>
          </a:p>
        </p:txBody>
      </p:sp>
    </p:spTree>
    <p:extLst>
      <p:ext uri="{BB962C8B-B14F-4D97-AF65-F5344CB8AC3E}">
        <p14:creationId xmlns:p14="http://schemas.microsoft.com/office/powerpoint/2010/main" val="368620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123B35-7859-E807-B7DA-0D0C8A1014E8}"/>
              </a:ext>
            </a:extLst>
          </p:cNvPr>
          <p:cNvSpPr>
            <a:spLocks noGrp="1"/>
          </p:cNvSpPr>
          <p:nvPr>
            <p:ph type="title"/>
          </p:nvPr>
        </p:nvSpPr>
        <p:spPr>
          <a:xfrm>
            <a:off x="913796" y="927100"/>
            <a:ext cx="3418766" cy="4616450"/>
          </a:xfrm>
        </p:spPr>
        <p:txBody>
          <a:bodyPr>
            <a:normAutofit/>
          </a:bodyPr>
          <a:lstStyle/>
          <a:p>
            <a:r>
              <a:rPr lang="en-GB" altLang="en-US" dirty="0"/>
              <a:t>What is OR?</a:t>
            </a:r>
            <a:endParaRPr lang="en-US" dirty="0"/>
          </a:p>
        </p:txBody>
      </p:sp>
      <p:cxnSp>
        <p:nvCxnSpPr>
          <p:cNvPr id="10" name="Straight Connector 9">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BC67AF8-B134-9053-876C-C675963D8C11}"/>
              </a:ext>
            </a:extLst>
          </p:cNvPr>
          <p:cNvSpPr>
            <a:spLocks noGrp="1"/>
          </p:cNvSpPr>
          <p:nvPr>
            <p:ph idx="1"/>
          </p:nvPr>
        </p:nvSpPr>
        <p:spPr>
          <a:xfrm>
            <a:off x="4976029" y="971549"/>
            <a:ext cx="6291528" cy="4616450"/>
          </a:xfrm>
        </p:spPr>
        <p:txBody>
          <a:bodyPr anchor="ctr">
            <a:normAutofit/>
          </a:bodyPr>
          <a:lstStyle/>
          <a:p>
            <a:pPr algn="just"/>
            <a:r>
              <a:rPr lang="en-GB" altLang="en-US" dirty="0"/>
              <a:t>OR started just before World War II in Britain with the establishment of teams of scientists to study the strategic and tactical problems involved in military operations.  The objective was to find the most effective utilisation of limited military resources using quantitative techniques. </a:t>
            </a:r>
          </a:p>
          <a:p>
            <a:pPr algn="just"/>
            <a:r>
              <a:rPr lang="en-US" dirty="0">
                <a:effectLst/>
              </a:rPr>
              <a:t>Operations research (OR) is an analytical method of problem-solving and decision-making that is useful in the management of organizations. </a:t>
            </a:r>
            <a:endParaRPr lang="en-GB" altLang="en-US" dirty="0"/>
          </a:p>
        </p:txBody>
      </p:sp>
    </p:spTree>
    <p:extLst>
      <p:ext uri="{BB962C8B-B14F-4D97-AF65-F5344CB8AC3E}">
        <p14:creationId xmlns:p14="http://schemas.microsoft.com/office/powerpoint/2010/main" val="110362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A logo with blue circles and black text&#10;&#10;Description automatically generated">
            <a:extLst>
              <a:ext uri="{FF2B5EF4-FFF2-40B4-BE49-F238E27FC236}">
                <a16:creationId xmlns:a16="http://schemas.microsoft.com/office/drawing/2014/main" id="{55188E2D-5D4D-64B0-728A-F413E64E69FB}"/>
              </a:ext>
            </a:extLst>
          </p:cNvPr>
          <p:cNvPicPr>
            <a:picLocks noChangeAspect="1"/>
          </p:cNvPicPr>
          <p:nvPr/>
        </p:nvPicPr>
        <p:blipFill rotWithShape="1">
          <a:blip r:embed="rId4">
            <a:extLst>
              <a:ext uri="{28A0092B-C50C-407E-A947-70E740481C1C}">
                <a14:useLocalDpi xmlns:a14="http://schemas.microsoft.com/office/drawing/2010/main" val="0"/>
              </a:ext>
            </a:extLst>
          </a:blip>
          <a:srcRect l="14091" t="26667" r="12159" b="33535"/>
          <a:stretch/>
        </p:blipFill>
        <p:spPr>
          <a:xfrm>
            <a:off x="2801035" y="2430449"/>
            <a:ext cx="6579280" cy="1997101"/>
          </a:xfrm>
          <a:prstGeom prst="rect">
            <a:avLst/>
          </a:prstGeom>
        </p:spPr>
      </p:pic>
    </p:spTree>
    <p:extLst>
      <p:ext uri="{BB962C8B-B14F-4D97-AF65-F5344CB8AC3E}">
        <p14:creationId xmlns:p14="http://schemas.microsoft.com/office/powerpoint/2010/main" val="21955429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416D-1795-3BF3-7BAE-B9823D5595AB}"/>
              </a:ext>
            </a:extLst>
          </p:cNvPr>
          <p:cNvSpPr>
            <a:spLocks noGrp="1"/>
          </p:cNvSpPr>
          <p:nvPr>
            <p:ph type="title"/>
          </p:nvPr>
        </p:nvSpPr>
        <p:spPr/>
        <p:txBody>
          <a:bodyPr/>
          <a:lstStyle/>
          <a:p>
            <a:r>
              <a:rPr lang="en-GB" altLang="en-US" dirty="0"/>
              <a:t>Steps in the OR Process</a:t>
            </a:r>
            <a:endParaRPr lang="en-US" dirty="0"/>
          </a:p>
        </p:txBody>
      </p:sp>
      <p:graphicFrame>
        <p:nvGraphicFramePr>
          <p:cNvPr id="4" name="Content Placeholder 12">
            <a:extLst>
              <a:ext uri="{FF2B5EF4-FFF2-40B4-BE49-F238E27FC236}">
                <a16:creationId xmlns:a16="http://schemas.microsoft.com/office/drawing/2014/main" id="{2406BD45-4C06-A573-5214-E7F3F22AF932}"/>
              </a:ext>
            </a:extLst>
          </p:cNvPr>
          <p:cNvGraphicFramePr>
            <a:graphicFrameLocks noGrp="1"/>
          </p:cNvGraphicFramePr>
          <p:nvPr>
            <p:ph idx="1"/>
            <p:extLst>
              <p:ext uri="{D42A27DB-BD31-4B8C-83A1-F6EECF244321}">
                <p14:modId xmlns:p14="http://schemas.microsoft.com/office/powerpoint/2010/main" val="2593258401"/>
              </p:ext>
            </p:extLst>
          </p:nvPr>
        </p:nvGraphicFramePr>
        <p:xfrm>
          <a:off x="706582" y="1551709"/>
          <a:ext cx="10778836" cy="52508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123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graphicEl>
                                              <a:dgm id="{0827D057-4FC9-4025-B52A-D34A11F97AD6}"/>
                                            </p:graphicEl>
                                          </p:spTgt>
                                        </p:tgtEl>
                                        <p:attrNameLst>
                                          <p:attrName>style.visibility</p:attrName>
                                        </p:attrNameLst>
                                      </p:cBhvr>
                                      <p:to>
                                        <p:strVal val="visible"/>
                                      </p:to>
                                    </p:set>
                                    <p:animEffect transition="in" filter="fade">
                                      <p:cBhvr>
                                        <p:cTn id="7" dur="1000"/>
                                        <p:tgtEl>
                                          <p:spTgt spid="4">
                                            <p:graphicEl>
                                              <a:dgm id="{0827D057-4FC9-4025-B52A-D34A11F97AD6}"/>
                                            </p:graphicEl>
                                          </p:spTgt>
                                        </p:tgtEl>
                                      </p:cBhvr>
                                    </p:animEffect>
                                    <p:anim calcmode="lin" valueType="num">
                                      <p:cBhvr>
                                        <p:cTn id="8" dur="1000" fill="hold"/>
                                        <p:tgtEl>
                                          <p:spTgt spid="4">
                                            <p:graphicEl>
                                              <a:dgm id="{0827D057-4FC9-4025-B52A-D34A11F97AD6}"/>
                                            </p:graphicEl>
                                          </p:spTgt>
                                        </p:tgtEl>
                                        <p:attrNameLst>
                                          <p:attrName>ppt_x</p:attrName>
                                        </p:attrNameLst>
                                      </p:cBhvr>
                                      <p:tavLst>
                                        <p:tav tm="0">
                                          <p:val>
                                            <p:strVal val="#ppt_x"/>
                                          </p:val>
                                        </p:tav>
                                        <p:tav tm="100000">
                                          <p:val>
                                            <p:strVal val="#ppt_x"/>
                                          </p:val>
                                        </p:tav>
                                      </p:tavLst>
                                    </p:anim>
                                    <p:anim calcmode="lin" valueType="num">
                                      <p:cBhvr>
                                        <p:cTn id="9" dur="1000" fill="hold"/>
                                        <p:tgtEl>
                                          <p:spTgt spid="4">
                                            <p:graphicEl>
                                              <a:dgm id="{0827D057-4FC9-4025-B52A-D34A11F97AD6}"/>
                                            </p:graphic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4">
                                            <p:graphicEl>
                                              <a:dgm id="{46878091-4030-4901-A857-D6F497277B81}"/>
                                            </p:graphicEl>
                                          </p:spTgt>
                                        </p:tgtEl>
                                        <p:attrNameLst>
                                          <p:attrName>style.visibility</p:attrName>
                                        </p:attrNameLst>
                                      </p:cBhvr>
                                      <p:to>
                                        <p:strVal val="visible"/>
                                      </p:to>
                                    </p:set>
                                    <p:animEffect transition="in" filter="fade">
                                      <p:cBhvr>
                                        <p:cTn id="13" dur="1000"/>
                                        <p:tgtEl>
                                          <p:spTgt spid="4">
                                            <p:graphicEl>
                                              <a:dgm id="{46878091-4030-4901-A857-D6F497277B81}"/>
                                            </p:graphicEl>
                                          </p:spTgt>
                                        </p:tgtEl>
                                      </p:cBhvr>
                                    </p:animEffect>
                                    <p:anim calcmode="lin" valueType="num">
                                      <p:cBhvr>
                                        <p:cTn id="14" dur="1000" fill="hold"/>
                                        <p:tgtEl>
                                          <p:spTgt spid="4">
                                            <p:graphicEl>
                                              <a:dgm id="{46878091-4030-4901-A857-D6F497277B81}"/>
                                            </p:graphicEl>
                                          </p:spTgt>
                                        </p:tgtEl>
                                        <p:attrNameLst>
                                          <p:attrName>ppt_x</p:attrName>
                                        </p:attrNameLst>
                                      </p:cBhvr>
                                      <p:tavLst>
                                        <p:tav tm="0">
                                          <p:val>
                                            <p:strVal val="#ppt_x"/>
                                          </p:val>
                                        </p:tav>
                                        <p:tav tm="100000">
                                          <p:val>
                                            <p:strVal val="#ppt_x"/>
                                          </p:val>
                                        </p:tav>
                                      </p:tavLst>
                                    </p:anim>
                                    <p:anim calcmode="lin" valueType="num">
                                      <p:cBhvr>
                                        <p:cTn id="15" dur="1000" fill="hold"/>
                                        <p:tgtEl>
                                          <p:spTgt spid="4">
                                            <p:graphicEl>
                                              <a:dgm id="{46878091-4030-4901-A857-D6F497277B81}"/>
                                            </p:graphicEl>
                                          </p:spTgt>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4">
                                            <p:graphicEl>
                                              <a:dgm id="{2832E514-6565-4A1C-A8B7-DB31A7C3B102}"/>
                                            </p:graphicEl>
                                          </p:spTgt>
                                        </p:tgtEl>
                                        <p:attrNameLst>
                                          <p:attrName>style.visibility</p:attrName>
                                        </p:attrNameLst>
                                      </p:cBhvr>
                                      <p:to>
                                        <p:strVal val="visible"/>
                                      </p:to>
                                    </p:set>
                                    <p:animEffect transition="in" filter="fade">
                                      <p:cBhvr>
                                        <p:cTn id="18" dur="1000"/>
                                        <p:tgtEl>
                                          <p:spTgt spid="4">
                                            <p:graphicEl>
                                              <a:dgm id="{2832E514-6565-4A1C-A8B7-DB31A7C3B102}"/>
                                            </p:graphicEl>
                                          </p:spTgt>
                                        </p:tgtEl>
                                      </p:cBhvr>
                                    </p:animEffect>
                                    <p:anim calcmode="lin" valueType="num">
                                      <p:cBhvr>
                                        <p:cTn id="19" dur="1000" fill="hold"/>
                                        <p:tgtEl>
                                          <p:spTgt spid="4">
                                            <p:graphicEl>
                                              <a:dgm id="{2832E514-6565-4A1C-A8B7-DB31A7C3B102}"/>
                                            </p:graphicEl>
                                          </p:spTgt>
                                        </p:tgtEl>
                                        <p:attrNameLst>
                                          <p:attrName>ppt_x</p:attrName>
                                        </p:attrNameLst>
                                      </p:cBhvr>
                                      <p:tavLst>
                                        <p:tav tm="0">
                                          <p:val>
                                            <p:strVal val="#ppt_x"/>
                                          </p:val>
                                        </p:tav>
                                        <p:tav tm="100000">
                                          <p:val>
                                            <p:strVal val="#ppt_x"/>
                                          </p:val>
                                        </p:tav>
                                      </p:tavLst>
                                    </p:anim>
                                    <p:anim calcmode="lin" valueType="num">
                                      <p:cBhvr>
                                        <p:cTn id="20" dur="1000" fill="hold"/>
                                        <p:tgtEl>
                                          <p:spTgt spid="4">
                                            <p:graphicEl>
                                              <a:dgm id="{2832E514-6565-4A1C-A8B7-DB31A7C3B102}"/>
                                            </p:graphicEl>
                                          </p:spTgt>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7" presetClass="entr" presetSubtype="0" fill="hold" grpId="0" nodeType="afterEffect">
                                  <p:stCondLst>
                                    <p:cond delay="0"/>
                                  </p:stCondLst>
                                  <p:childTnLst>
                                    <p:set>
                                      <p:cBhvr>
                                        <p:cTn id="23" dur="1" fill="hold">
                                          <p:stCondLst>
                                            <p:cond delay="0"/>
                                          </p:stCondLst>
                                        </p:cTn>
                                        <p:tgtEl>
                                          <p:spTgt spid="4">
                                            <p:graphicEl>
                                              <a:dgm id="{CADE4EDA-5D5C-4814-800D-6BF018F0AABE}"/>
                                            </p:graphicEl>
                                          </p:spTgt>
                                        </p:tgtEl>
                                        <p:attrNameLst>
                                          <p:attrName>style.visibility</p:attrName>
                                        </p:attrNameLst>
                                      </p:cBhvr>
                                      <p:to>
                                        <p:strVal val="visible"/>
                                      </p:to>
                                    </p:set>
                                    <p:animEffect transition="in" filter="fade">
                                      <p:cBhvr>
                                        <p:cTn id="24" dur="1000"/>
                                        <p:tgtEl>
                                          <p:spTgt spid="4">
                                            <p:graphicEl>
                                              <a:dgm id="{CADE4EDA-5D5C-4814-800D-6BF018F0AABE}"/>
                                            </p:graphicEl>
                                          </p:spTgt>
                                        </p:tgtEl>
                                      </p:cBhvr>
                                    </p:animEffect>
                                    <p:anim calcmode="lin" valueType="num">
                                      <p:cBhvr>
                                        <p:cTn id="25" dur="1000" fill="hold"/>
                                        <p:tgtEl>
                                          <p:spTgt spid="4">
                                            <p:graphicEl>
                                              <a:dgm id="{CADE4EDA-5D5C-4814-800D-6BF018F0AABE}"/>
                                            </p:graphicEl>
                                          </p:spTgt>
                                        </p:tgtEl>
                                        <p:attrNameLst>
                                          <p:attrName>ppt_x</p:attrName>
                                        </p:attrNameLst>
                                      </p:cBhvr>
                                      <p:tavLst>
                                        <p:tav tm="0">
                                          <p:val>
                                            <p:strVal val="#ppt_x"/>
                                          </p:val>
                                        </p:tav>
                                        <p:tav tm="100000">
                                          <p:val>
                                            <p:strVal val="#ppt_x"/>
                                          </p:val>
                                        </p:tav>
                                      </p:tavLst>
                                    </p:anim>
                                    <p:anim calcmode="lin" valueType="num">
                                      <p:cBhvr>
                                        <p:cTn id="26" dur="1000" fill="hold"/>
                                        <p:tgtEl>
                                          <p:spTgt spid="4">
                                            <p:graphicEl>
                                              <a:dgm id="{CADE4EDA-5D5C-4814-800D-6BF018F0AABE}"/>
                                            </p:graphicEl>
                                          </p:spTgt>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4">
                                            <p:graphicEl>
                                              <a:dgm id="{3C5818CE-AA21-4F0C-B737-ACA56901E0FD}"/>
                                            </p:graphicEl>
                                          </p:spTgt>
                                        </p:tgtEl>
                                        <p:attrNameLst>
                                          <p:attrName>style.visibility</p:attrName>
                                        </p:attrNameLst>
                                      </p:cBhvr>
                                      <p:to>
                                        <p:strVal val="visible"/>
                                      </p:to>
                                    </p:set>
                                    <p:animEffect transition="in" filter="fade">
                                      <p:cBhvr>
                                        <p:cTn id="29" dur="1000"/>
                                        <p:tgtEl>
                                          <p:spTgt spid="4">
                                            <p:graphicEl>
                                              <a:dgm id="{3C5818CE-AA21-4F0C-B737-ACA56901E0FD}"/>
                                            </p:graphicEl>
                                          </p:spTgt>
                                        </p:tgtEl>
                                      </p:cBhvr>
                                    </p:animEffect>
                                    <p:anim calcmode="lin" valueType="num">
                                      <p:cBhvr>
                                        <p:cTn id="30" dur="1000" fill="hold"/>
                                        <p:tgtEl>
                                          <p:spTgt spid="4">
                                            <p:graphicEl>
                                              <a:dgm id="{3C5818CE-AA21-4F0C-B737-ACA56901E0FD}"/>
                                            </p:graphicEl>
                                          </p:spTgt>
                                        </p:tgtEl>
                                        <p:attrNameLst>
                                          <p:attrName>ppt_x</p:attrName>
                                        </p:attrNameLst>
                                      </p:cBhvr>
                                      <p:tavLst>
                                        <p:tav tm="0">
                                          <p:val>
                                            <p:strVal val="#ppt_x"/>
                                          </p:val>
                                        </p:tav>
                                        <p:tav tm="100000">
                                          <p:val>
                                            <p:strVal val="#ppt_x"/>
                                          </p:val>
                                        </p:tav>
                                      </p:tavLst>
                                    </p:anim>
                                    <p:anim calcmode="lin" valueType="num">
                                      <p:cBhvr>
                                        <p:cTn id="31" dur="1000" fill="hold"/>
                                        <p:tgtEl>
                                          <p:spTgt spid="4">
                                            <p:graphicEl>
                                              <a:dgm id="{3C5818CE-AA21-4F0C-B737-ACA56901E0FD}"/>
                                            </p:graphicEl>
                                          </p:spTgt>
                                        </p:tgtEl>
                                        <p:attrNameLst>
                                          <p:attrName>ppt_y</p:attrName>
                                        </p:attrNameLst>
                                      </p:cBhvr>
                                      <p:tavLst>
                                        <p:tav tm="0">
                                          <p:val>
                                            <p:strVal val="#ppt_y-.1"/>
                                          </p:val>
                                        </p:tav>
                                        <p:tav tm="100000">
                                          <p:val>
                                            <p:strVal val="#ppt_y"/>
                                          </p:val>
                                        </p:tav>
                                      </p:tavLst>
                                    </p:anim>
                                  </p:childTnLst>
                                </p:cTn>
                              </p:par>
                            </p:childTnLst>
                          </p:cTn>
                        </p:par>
                        <p:par>
                          <p:cTn id="32" fill="hold">
                            <p:stCondLst>
                              <p:cond delay="3000"/>
                            </p:stCondLst>
                            <p:childTnLst>
                              <p:par>
                                <p:cTn id="33" presetID="47" presetClass="entr" presetSubtype="0" fill="hold" grpId="0" nodeType="afterEffect">
                                  <p:stCondLst>
                                    <p:cond delay="0"/>
                                  </p:stCondLst>
                                  <p:childTnLst>
                                    <p:set>
                                      <p:cBhvr>
                                        <p:cTn id="34" dur="1" fill="hold">
                                          <p:stCondLst>
                                            <p:cond delay="0"/>
                                          </p:stCondLst>
                                        </p:cTn>
                                        <p:tgtEl>
                                          <p:spTgt spid="4">
                                            <p:graphicEl>
                                              <a:dgm id="{D6AA1E6E-167B-4DD1-85C3-0D808B7CC0BE}"/>
                                            </p:graphicEl>
                                          </p:spTgt>
                                        </p:tgtEl>
                                        <p:attrNameLst>
                                          <p:attrName>style.visibility</p:attrName>
                                        </p:attrNameLst>
                                      </p:cBhvr>
                                      <p:to>
                                        <p:strVal val="visible"/>
                                      </p:to>
                                    </p:set>
                                    <p:animEffect transition="in" filter="fade">
                                      <p:cBhvr>
                                        <p:cTn id="35" dur="1000"/>
                                        <p:tgtEl>
                                          <p:spTgt spid="4">
                                            <p:graphicEl>
                                              <a:dgm id="{D6AA1E6E-167B-4DD1-85C3-0D808B7CC0BE}"/>
                                            </p:graphicEl>
                                          </p:spTgt>
                                        </p:tgtEl>
                                      </p:cBhvr>
                                    </p:animEffect>
                                    <p:anim calcmode="lin" valueType="num">
                                      <p:cBhvr>
                                        <p:cTn id="36" dur="1000" fill="hold"/>
                                        <p:tgtEl>
                                          <p:spTgt spid="4">
                                            <p:graphicEl>
                                              <a:dgm id="{D6AA1E6E-167B-4DD1-85C3-0D808B7CC0BE}"/>
                                            </p:graphicEl>
                                          </p:spTgt>
                                        </p:tgtEl>
                                        <p:attrNameLst>
                                          <p:attrName>ppt_x</p:attrName>
                                        </p:attrNameLst>
                                      </p:cBhvr>
                                      <p:tavLst>
                                        <p:tav tm="0">
                                          <p:val>
                                            <p:strVal val="#ppt_x"/>
                                          </p:val>
                                        </p:tav>
                                        <p:tav tm="100000">
                                          <p:val>
                                            <p:strVal val="#ppt_x"/>
                                          </p:val>
                                        </p:tav>
                                      </p:tavLst>
                                    </p:anim>
                                    <p:anim calcmode="lin" valueType="num">
                                      <p:cBhvr>
                                        <p:cTn id="37" dur="1000" fill="hold"/>
                                        <p:tgtEl>
                                          <p:spTgt spid="4">
                                            <p:graphicEl>
                                              <a:dgm id="{D6AA1E6E-167B-4DD1-85C3-0D808B7CC0BE}"/>
                                            </p:graphicEl>
                                          </p:spTgt>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4">
                                            <p:graphicEl>
                                              <a:dgm id="{9B39328D-D292-4E9D-95B4-16D074532521}"/>
                                            </p:graphicEl>
                                          </p:spTgt>
                                        </p:tgtEl>
                                        <p:attrNameLst>
                                          <p:attrName>style.visibility</p:attrName>
                                        </p:attrNameLst>
                                      </p:cBhvr>
                                      <p:to>
                                        <p:strVal val="visible"/>
                                      </p:to>
                                    </p:set>
                                    <p:animEffect transition="in" filter="fade">
                                      <p:cBhvr>
                                        <p:cTn id="40" dur="1000"/>
                                        <p:tgtEl>
                                          <p:spTgt spid="4">
                                            <p:graphicEl>
                                              <a:dgm id="{9B39328D-D292-4E9D-95B4-16D074532521}"/>
                                            </p:graphicEl>
                                          </p:spTgt>
                                        </p:tgtEl>
                                      </p:cBhvr>
                                    </p:animEffect>
                                    <p:anim calcmode="lin" valueType="num">
                                      <p:cBhvr>
                                        <p:cTn id="41" dur="1000" fill="hold"/>
                                        <p:tgtEl>
                                          <p:spTgt spid="4">
                                            <p:graphicEl>
                                              <a:dgm id="{9B39328D-D292-4E9D-95B4-16D074532521}"/>
                                            </p:graphicEl>
                                          </p:spTgt>
                                        </p:tgtEl>
                                        <p:attrNameLst>
                                          <p:attrName>ppt_x</p:attrName>
                                        </p:attrNameLst>
                                      </p:cBhvr>
                                      <p:tavLst>
                                        <p:tav tm="0">
                                          <p:val>
                                            <p:strVal val="#ppt_x"/>
                                          </p:val>
                                        </p:tav>
                                        <p:tav tm="100000">
                                          <p:val>
                                            <p:strVal val="#ppt_x"/>
                                          </p:val>
                                        </p:tav>
                                      </p:tavLst>
                                    </p:anim>
                                    <p:anim calcmode="lin" valueType="num">
                                      <p:cBhvr>
                                        <p:cTn id="42" dur="1000" fill="hold"/>
                                        <p:tgtEl>
                                          <p:spTgt spid="4">
                                            <p:graphicEl>
                                              <a:dgm id="{9B39328D-D292-4E9D-95B4-16D074532521}"/>
                                            </p:graphicEl>
                                          </p:spTgt>
                                        </p:tgtEl>
                                        <p:attrNameLst>
                                          <p:attrName>ppt_y</p:attrName>
                                        </p:attrNameLst>
                                      </p:cBhvr>
                                      <p:tavLst>
                                        <p:tav tm="0">
                                          <p:val>
                                            <p:strVal val="#ppt_y-.1"/>
                                          </p:val>
                                        </p:tav>
                                        <p:tav tm="100000">
                                          <p:val>
                                            <p:strVal val="#ppt_y"/>
                                          </p:val>
                                        </p:tav>
                                      </p:tavLst>
                                    </p:anim>
                                  </p:childTnLst>
                                </p:cTn>
                              </p:par>
                            </p:childTnLst>
                          </p:cTn>
                        </p:par>
                        <p:par>
                          <p:cTn id="43" fill="hold">
                            <p:stCondLst>
                              <p:cond delay="4000"/>
                            </p:stCondLst>
                            <p:childTnLst>
                              <p:par>
                                <p:cTn id="44" presetID="47" presetClass="entr" presetSubtype="0" fill="hold" grpId="0" nodeType="afterEffect">
                                  <p:stCondLst>
                                    <p:cond delay="0"/>
                                  </p:stCondLst>
                                  <p:childTnLst>
                                    <p:set>
                                      <p:cBhvr>
                                        <p:cTn id="45" dur="1" fill="hold">
                                          <p:stCondLst>
                                            <p:cond delay="0"/>
                                          </p:stCondLst>
                                        </p:cTn>
                                        <p:tgtEl>
                                          <p:spTgt spid="4">
                                            <p:graphicEl>
                                              <a:dgm id="{92128A0C-E27E-4417-905A-8C88E54AB71D}"/>
                                            </p:graphicEl>
                                          </p:spTgt>
                                        </p:tgtEl>
                                        <p:attrNameLst>
                                          <p:attrName>style.visibility</p:attrName>
                                        </p:attrNameLst>
                                      </p:cBhvr>
                                      <p:to>
                                        <p:strVal val="visible"/>
                                      </p:to>
                                    </p:set>
                                    <p:animEffect transition="in" filter="fade">
                                      <p:cBhvr>
                                        <p:cTn id="46" dur="1000"/>
                                        <p:tgtEl>
                                          <p:spTgt spid="4">
                                            <p:graphicEl>
                                              <a:dgm id="{92128A0C-E27E-4417-905A-8C88E54AB71D}"/>
                                            </p:graphicEl>
                                          </p:spTgt>
                                        </p:tgtEl>
                                      </p:cBhvr>
                                    </p:animEffect>
                                    <p:anim calcmode="lin" valueType="num">
                                      <p:cBhvr>
                                        <p:cTn id="47" dur="1000" fill="hold"/>
                                        <p:tgtEl>
                                          <p:spTgt spid="4">
                                            <p:graphicEl>
                                              <a:dgm id="{92128A0C-E27E-4417-905A-8C88E54AB71D}"/>
                                            </p:graphicEl>
                                          </p:spTgt>
                                        </p:tgtEl>
                                        <p:attrNameLst>
                                          <p:attrName>ppt_x</p:attrName>
                                        </p:attrNameLst>
                                      </p:cBhvr>
                                      <p:tavLst>
                                        <p:tav tm="0">
                                          <p:val>
                                            <p:strVal val="#ppt_x"/>
                                          </p:val>
                                        </p:tav>
                                        <p:tav tm="100000">
                                          <p:val>
                                            <p:strVal val="#ppt_x"/>
                                          </p:val>
                                        </p:tav>
                                      </p:tavLst>
                                    </p:anim>
                                    <p:anim calcmode="lin" valueType="num">
                                      <p:cBhvr>
                                        <p:cTn id="48" dur="1000" fill="hold"/>
                                        <p:tgtEl>
                                          <p:spTgt spid="4">
                                            <p:graphicEl>
                                              <a:dgm id="{92128A0C-E27E-4417-905A-8C88E54AB71D}"/>
                                            </p:graphicEl>
                                          </p:spTgt>
                                        </p:tgtEl>
                                        <p:attrNameLst>
                                          <p:attrName>ppt_y</p:attrName>
                                        </p:attrNameLst>
                                      </p:cBhvr>
                                      <p:tavLst>
                                        <p:tav tm="0">
                                          <p:val>
                                            <p:strVal val="#ppt_y-.1"/>
                                          </p:val>
                                        </p:tav>
                                        <p:tav tm="100000">
                                          <p:val>
                                            <p:strVal val="#ppt_y"/>
                                          </p:val>
                                        </p:tav>
                                      </p:tavLst>
                                    </p:anim>
                                  </p:childTnLst>
                                </p:cTn>
                              </p:par>
                              <p:par>
                                <p:cTn id="49" presetID="47" presetClass="entr" presetSubtype="0" fill="hold" grpId="0" nodeType="withEffect">
                                  <p:stCondLst>
                                    <p:cond delay="0"/>
                                  </p:stCondLst>
                                  <p:childTnLst>
                                    <p:set>
                                      <p:cBhvr>
                                        <p:cTn id="50" dur="1" fill="hold">
                                          <p:stCondLst>
                                            <p:cond delay="0"/>
                                          </p:stCondLst>
                                        </p:cTn>
                                        <p:tgtEl>
                                          <p:spTgt spid="4">
                                            <p:graphicEl>
                                              <a:dgm id="{E5EEE6CD-A3D6-42F4-B0DE-BB56D91BD689}"/>
                                            </p:graphicEl>
                                          </p:spTgt>
                                        </p:tgtEl>
                                        <p:attrNameLst>
                                          <p:attrName>style.visibility</p:attrName>
                                        </p:attrNameLst>
                                      </p:cBhvr>
                                      <p:to>
                                        <p:strVal val="visible"/>
                                      </p:to>
                                    </p:set>
                                    <p:animEffect transition="in" filter="fade">
                                      <p:cBhvr>
                                        <p:cTn id="51" dur="1000"/>
                                        <p:tgtEl>
                                          <p:spTgt spid="4">
                                            <p:graphicEl>
                                              <a:dgm id="{E5EEE6CD-A3D6-42F4-B0DE-BB56D91BD689}"/>
                                            </p:graphicEl>
                                          </p:spTgt>
                                        </p:tgtEl>
                                      </p:cBhvr>
                                    </p:animEffect>
                                    <p:anim calcmode="lin" valueType="num">
                                      <p:cBhvr>
                                        <p:cTn id="52" dur="1000" fill="hold"/>
                                        <p:tgtEl>
                                          <p:spTgt spid="4">
                                            <p:graphicEl>
                                              <a:dgm id="{E5EEE6CD-A3D6-42F4-B0DE-BB56D91BD689}"/>
                                            </p:graphicEl>
                                          </p:spTgt>
                                        </p:tgtEl>
                                        <p:attrNameLst>
                                          <p:attrName>ppt_x</p:attrName>
                                        </p:attrNameLst>
                                      </p:cBhvr>
                                      <p:tavLst>
                                        <p:tav tm="0">
                                          <p:val>
                                            <p:strVal val="#ppt_x"/>
                                          </p:val>
                                        </p:tav>
                                        <p:tav tm="100000">
                                          <p:val>
                                            <p:strVal val="#ppt_x"/>
                                          </p:val>
                                        </p:tav>
                                      </p:tavLst>
                                    </p:anim>
                                    <p:anim calcmode="lin" valueType="num">
                                      <p:cBhvr>
                                        <p:cTn id="53" dur="1000" fill="hold"/>
                                        <p:tgtEl>
                                          <p:spTgt spid="4">
                                            <p:graphicEl>
                                              <a:dgm id="{E5EEE6CD-A3D6-42F4-B0DE-BB56D91BD689}"/>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28CC-E3D8-63AA-CE86-56CE7AFD97CE}"/>
              </a:ext>
            </a:extLst>
          </p:cNvPr>
          <p:cNvSpPr>
            <a:spLocks noGrp="1"/>
          </p:cNvSpPr>
          <p:nvPr>
            <p:ph type="title"/>
          </p:nvPr>
        </p:nvSpPr>
        <p:spPr/>
        <p:txBody>
          <a:bodyPr/>
          <a:lstStyle/>
          <a:p>
            <a:r>
              <a:rPr lang="en-GB" altLang="en-US" cap="none" dirty="0"/>
              <a:t>Linear Programming </a:t>
            </a:r>
            <a:r>
              <a:rPr lang="en-GB" altLang="en-US" dirty="0"/>
              <a:t>(LP)</a:t>
            </a:r>
            <a:endParaRPr lang="en-US" dirty="0"/>
          </a:p>
        </p:txBody>
      </p:sp>
      <p:sp>
        <p:nvSpPr>
          <p:cNvPr id="3" name="Content Placeholder 2">
            <a:extLst>
              <a:ext uri="{FF2B5EF4-FFF2-40B4-BE49-F238E27FC236}">
                <a16:creationId xmlns:a16="http://schemas.microsoft.com/office/drawing/2014/main" id="{1AA84790-1CBA-3641-2B06-56E093EC69C4}"/>
              </a:ext>
            </a:extLst>
          </p:cNvPr>
          <p:cNvSpPr>
            <a:spLocks noGrp="1"/>
          </p:cNvSpPr>
          <p:nvPr>
            <p:ph idx="1"/>
          </p:nvPr>
        </p:nvSpPr>
        <p:spPr/>
        <p:txBody>
          <a:bodyPr>
            <a:normAutofit/>
          </a:bodyPr>
          <a:lstStyle/>
          <a:p>
            <a:r>
              <a:rPr lang="en-GB" altLang="en-US" sz="2400" dirty="0"/>
              <a:t>Model Formulation Steps:</a:t>
            </a:r>
          </a:p>
          <a:p>
            <a:pPr marL="0" indent="0">
              <a:lnSpc>
                <a:spcPct val="100000"/>
              </a:lnSpc>
              <a:buNone/>
            </a:pPr>
            <a:endParaRPr lang="en-GB" altLang="en-US" sz="2400" dirty="0"/>
          </a:p>
          <a:p>
            <a:pPr lvl="1"/>
            <a:r>
              <a:rPr lang="en-GB" altLang="en-US" sz="2400" dirty="0"/>
              <a:t>Step 1: Clearly define the Decision Variables (DV)</a:t>
            </a:r>
          </a:p>
          <a:p>
            <a:pPr lvl="1"/>
            <a:endParaRPr lang="en-GB" altLang="en-US" sz="2400" dirty="0"/>
          </a:p>
          <a:p>
            <a:pPr lvl="1"/>
            <a:r>
              <a:rPr lang="en-GB" altLang="en-US" sz="2400" dirty="0"/>
              <a:t>Step 2: Construct the Objective Function (OF)</a:t>
            </a:r>
          </a:p>
          <a:p>
            <a:pPr marL="457200" lvl="1" indent="0">
              <a:buNone/>
            </a:pPr>
            <a:endParaRPr lang="en-GB" altLang="en-US" sz="2400" dirty="0"/>
          </a:p>
          <a:p>
            <a:pPr lvl="1"/>
            <a:r>
              <a:rPr lang="en-GB" altLang="en-US" sz="2400" dirty="0"/>
              <a:t>Step 3: Formulate the Constraints              </a:t>
            </a:r>
          </a:p>
        </p:txBody>
      </p:sp>
    </p:spTree>
    <p:extLst>
      <p:ext uri="{BB962C8B-B14F-4D97-AF65-F5344CB8AC3E}">
        <p14:creationId xmlns:p14="http://schemas.microsoft.com/office/powerpoint/2010/main" val="192829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3658-273E-FDF5-D993-12DB564EDF7B}"/>
              </a:ext>
            </a:extLst>
          </p:cNvPr>
          <p:cNvSpPr>
            <a:spLocks noGrp="1"/>
          </p:cNvSpPr>
          <p:nvPr>
            <p:ph type="title"/>
          </p:nvPr>
        </p:nvSpPr>
        <p:spPr/>
        <p:txBody>
          <a:bodyPr/>
          <a:lstStyle/>
          <a:p>
            <a:r>
              <a:rPr lang="en-GB" altLang="en-US" dirty="0"/>
              <a:t>LP Model Formulation (example 1)</a:t>
            </a:r>
            <a:endParaRPr lang="en-US" dirty="0"/>
          </a:p>
        </p:txBody>
      </p:sp>
      <p:sp>
        <p:nvSpPr>
          <p:cNvPr id="3" name="Content Placeholder 2">
            <a:extLst>
              <a:ext uri="{FF2B5EF4-FFF2-40B4-BE49-F238E27FC236}">
                <a16:creationId xmlns:a16="http://schemas.microsoft.com/office/drawing/2014/main" id="{FD36BDF6-06D0-7250-848D-E0625FE110B4}"/>
              </a:ext>
            </a:extLst>
          </p:cNvPr>
          <p:cNvSpPr>
            <a:spLocks noGrp="1"/>
          </p:cNvSpPr>
          <p:nvPr>
            <p:ph idx="1"/>
          </p:nvPr>
        </p:nvSpPr>
        <p:spPr/>
        <p:txBody>
          <a:bodyPr/>
          <a:lstStyle/>
          <a:p>
            <a:r>
              <a:rPr lang="en-GB" altLang="en-US" dirty="0"/>
              <a:t>Product mix problem - Beaver Creek Pottery Company</a:t>
            </a:r>
          </a:p>
          <a:p>
            <a:pPr marL="0" indent="0">
              <a:buNone/>
            </a:pPr>
            <a:endParaRPr lang="en-GB" altLang="en-US" sz="900" dirty="0"/>
          </a:p>
          <a:p>
            <a:r>
              <a:rPr lang="en-GB" altLang="en-US" dirty="0"/>
              <a:t>How many bowls and mugs should be produced to maximize profits given </a:t>
            </a:r>
            <a:r>
              <a:rPr lang="en-GB" altLang="en-US" dirty="0" err="1"/>
              <a:t>labor</a:t>
            </a:r>
            <a:r>
              <a:rPr lang="en-GB" altLang="en-US" dirty="0"/>
              <a:t> and materials constraints?</a:t>
            </a:r>
          </a:p>
          <a:p>
            <a:pPr marL="0" indent="0">
              <a:buNone/>
            </a:pPr>
            <a:endParaRPr lang="en-GB" altLang="en-US" sz="900" dirty="0"/>
          </a:p>
          <a:p>
            <a:r>
              <a:rPr lang="en-GB" altLang="en-US" dirty="0"/>
              <a:t>Product resource requirements and unit profit:</a:t>
            </a:r>
          </a:p>
        </p:txBody>
      </p:sp>
      <p:graphicFrame>
        <p:nvGraphicFramePr>
          <p:cNvPr id="4" name="Group 5">
            <a:extLst>
              <a:ext uri="{FF2B5EF4-FFF2-40B4-BE49-F238E27FC236}">
                <a16:creationId xmlns:a16="http://schemas.microsoft.com/office/drawing/2014/main" id="{E875307A-5D16-E672-BDF3-81E7EEA8C28C}"/>
              </a:ext>
            </a:extLst>
          </p:cNvPr>
          <p:cNvGraphicFramePr>
            <a:graphicFrameLocks noGrp="1"/>
          </p:cNvGraphicFramePr>
          <p:nvPr>
            <p:extLst>
              <p:ext uri="{D42A27DB-BD31-4B8C-83A1-F6EECF244321}">
                <p14:modId xmlns:p14="http://schemas.microsoft.com/office/powerpoint/2010/main" val="124244542"/>
              </p:ext>
            </p:extLst>
          </p:nvPr>
        </p:nvGraphicFramePr>
        <p:xfrm>
          <a:off x="924443" y="4511576"/>
          <a:ext cx="6073775" cy="1736824"/>
        </p:xfrm>
        <a:graphic>
          <a:graphicData uri="http://schemas.openxmlformats.org/drawingml/2006/table">
            <a:tbl>
              <a:tblPr>
                <a:tableStyleId>{073A0DAA-6AF3-43AB-8588-CEC1D06C72B9}</a:tableStyleId>
              </a:tblPr>
              <a:tblGrid>
                <a:gridCol w="15017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65606">
                <a:tc>
                  <a:txBody>
                    <a:bodyPr/>
                    <a:lstStyle/>
                    <a:p>
                      <a:pPr marL="0" marR="0" lvl="0" indent="0" algn="ctr" defTabSz="914400" rtl="0" eaLnBrk="1" fontAlgn="base" latinLnBrk="0" hangingPunct="1">
                        <a:lnSpc>
                          <a:spcPct val="100000"/>
                        </a:lnSpc>
                        <a:spcBef>
                          <a:spcPct val="20000"/>
                        </a:spcBef>
                        <a:spcAft>
                          <a:spcPct val="0"/>
                        </a:spcAft>
                        <a:buClr>
                          <a:srgbClr val="961212"/>
                        </a:buClr>
                        <a:buSzTx/>
                        <a:buFont typeface="Wingdings" pitchFamily="2" charset="2"/>
                        <a:buNone/>
                        <a:tabLst/>
                      </a:pPr>
                      <a:endParaRPr kumimoji="0" lang="en-US" sz="1800" b="1" i="0" u="none" strike="noStrike" cap="none" normalizeH="0" baseline="0" dirty="0">
                        <a:ln>
                          <a:noFill/>
                        </a:ln>
                        <a:solidFill>
                          <a:schemeClr val="accent2"/>
                        </a:solidFill>
                        <a:effectLst/>
                        <a:latin typeface="Arial" charset="0"/>
                      </a:endParaRPr>
                    </a:p>
                  </a:txBody>
                  <a:tcPr marT="45653" marB="45653" anchor="ctr" horzOverflow="overflow"/>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Resource Requirements</a:t>
                      </a:r>
                      <a:endParaRPr kumimoji="0" lang="en-US" sz="1800" b="1" i="0" u="none" strike="noStrike" cap="none" normalizeH="0" baseline="0" dirty="0">
                        <a:ln>
                          <a:noFill/>
                        </a:ln>
                        <a:solidFill>
                          <a:schemeClr val="accent2"/>
                        </a:solidFill>
                        <a:effectLst/>
                        <a:latin typeface="Times New Roman" pitchFamily="18" charset="0"/>
                        <a:cs typeface="Times New Roman" pitchFamily="18" charset="0"/>
                      </a:endParaRPr>
                    </a:p>
                  </a:txBody>
                  <a:tcPr marT="45653" marB="45653" anchor="ctr" horzOverflow="overflow"/>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63990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Product</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Labor</a:t>
                      </a:r>
                      <a:endParaRPr kumimoji="0" lang="en-GB" sz="180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u="none" strike="noStrike" cap="none" normalizeH="0" baseline="0" dirty="0">
                          <a:ln>
                            <a:noFill/>
                          </a:ln>
                          <a:effectLst/>
                        </a:rPr>
                        <a:t>(hr/unit)</a:t>
                      </a:r>
                      <a:endParaRPr kumimoji="0" lang="en-US" sz="1800" b="1" i="0" u="none" strike="noStrike" cap="none" normalizeH="0" baseline="0" dirty="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Clay (</a:t>
                      </a:r>
                      <a:r>
                        <a:rPr kumimoji="0" lang="ar-EG" sz="1800" u="none" strike="noStrike" cap="none" normalizeH="0" baseline="0" dirty="0">
                          <a:ln>
                            <a:noFill/>
                          </a:ln>
                          <a:effectLst/>
                        </a:rPr>
                        <a:t>فخار</a:t>
                      </a:r>
                      <a:r>
                        <a:rPr kumimoji="0" lang="en-US" sz="1800" u="none" strike="noStrike" cap="none" normalizeH="0" baseline="0" dirty="0">
                          <a:ln>
                            <a:noFill/>
                          </a:ln>
                          <a:effectLst/>
                        </a:rPr>
                        <a:t>)</a:t>
                      </a:r>
                      <a:endParaRPr kumimoji="0" lang="en-GB" sz="180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u="none" strike="noStrike" cap="none" normalizeH="0" baseline="0" dirty="0">
                          <a:ln>
                            <a:noFill/>
                          </a:ln>
                          <a:effectLst/>
                        </a:rPr>
                        <a:t>(lb/unit)</a:t>
                      </a:r>
                      <a:endParaRPr kumimoji="0" lang="en-US" sz="1800" b="1" i="0" u="none" strike="noStrike" cap="none" normalizeH="0" baseline="0" dirty="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Profit</a:t>
                      </a:r>
                      <a:endParaRPr kumimoji="0" lang="en-GB" sz="1800" u="none" strike="noStrike" cap="none" normalizeH="0" baseline="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u="none" strike="noStrike" cap="none" normalizeH="0" baseline="0">
                          <a:ln>
                            <a:noFill/>
                          </a:ln>
                          <a:effectLst/>
                        </a:rPr>
                        <a:t>($/unit)</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extLst>
                  <a:ext uri="{0D108BD9-81ED-4DB2-BD59-A6C34878D82A}">
                    <a16:rowId xmlns:a16="http://schemas.microsoft.com/office/drawing/2014/main" val="10001"/>
                  </a:ext>
                </a:extLst>
              </a:tr>
              <a:tr h="3656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Bowl</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1</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4</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40</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extLst>
                  <a:ext uri="{0D108BD9-81ED-4DB2-BD59-A6C34878D82A}">
                    <a16:rowId xmlns:a16="http://schemas.microsoft.com/office/drawing/2014/main" val="10002"/>
                  </a:ext>
                </a:extLst>
              </a:tr>
              <a:tr h="3656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Mug</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2</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3</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50</a:t>
                      </a:r>
                      <a:endParaRPr kumimoji="0" lang="en-US" sz="1800" b="1" i="0" u="none" strike="noStrike" cap="none" normalizeH="0" baseline="0" dirty="0">
                        <a:ln>
                          <a:noFill/>
                        </a:ln>
                        <a:solidFill>
                          <a:schemeClr val="accent2"/>
                        </a:solidFill>
                        <a:effectLst/>
                        <a:latin typeface="Arial" charset="0"/>
                        <a:ea typeface="Times New Roman" pitchFamily="18" charset="0"/>
                        <a:cs typeface="Arial" charset="0"/>
                      </a:endParaRPr>
                    </a:p>
                  </a:txBody>
                  <a:tcPr marT="45653" marB="45653" anchor="ctr" horzOverflow="overflow"/>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46EC1F94-3A5C-78AF-AED7-98BDBD6D9BC9}"/>
              </a:ext>
            </a:extLst>
          </p:cNvPr>
          <p:cNvSpPr txBox="1"/>
          <p:nvPr/>
        </p:nvSpPr>
        <p:spPr>
          <a:xfrm>
            <a:off x="7417724" y="4867870"/>
            <a:ext cx="4510116" cy="923330"/>
          </a:xfrm>
          <a:prstGeom prst="rect">
            <a:avLst/>
          </a:prstGeom>
          <a:noFill/>
        </p:spPr>
        <p:txBody>
          <a:bodyPr wrap="square">
            <a:spAutoFit/>
          </a:bodyPr>
          <a:lstStyle/>
          <a:p>
            <a:r>
              <a:rPr lang="en-GB" altLang="en-US" b="1" dirty="0"/>
              <a:t>Resource Availability: </a:t>
            </a:r>
          </a:p>
          <a:p>
            <a:pPr marL="285750" indent="-285750">
              <a:buFont typeface="Arial" panose="020B0604020202020204" pitchFamily="34" charset="0"/>
              <a:buChar char="•"/>
            </a:pPr>
            <a:r>
              <a:rPr lang="en-GB" altLang="en-US" b="1" dirty="0"/>
              <a:t>24 hrs of labour per day </a:t>
            </a:r>
          </a:p>
          <a:p>
            <a:pPr marL="285750" indent="-285750">
              <a:buFont typeface="Arial" panose="020B0604020202020204" pitchFamily="34" charset="0"/>
              <a:buChar char="•"/>
            </a:pPr>
            <a:r>
              <a:rPr lang="en-GB" altLang="en-US" b="1" dirty="0"/>
              <a:t>120 lbs of clay</a:t>
            </a:r>
          </a:p>
        </p:txBody>
      </p:sp>
    </p:spTree>
    <p:extLst>
      <p:ext uri="{BB962C8B-B14F-4D97-AF65-F5344CB8AC3E}">
        <p14:creationId xmlns:p14="http://schemas.microsoft.com/office/powerpoint/2010/main" val="148938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519B9-A5D5-3B53-61E5-BACFFF28F486}"/>
              </a:ext>
            </a:extLst>
          </p:cNvPr>
          <p:cNvSpPr>
            <a:spLocks noGrp="1"/>
          </p:cNvSpPr>
          <p:nvPr>
            <p:ph type="title"/>
          </p:nvPr>
        </p:nvSpPr>
        <p:spPr/>
        <p:txBody>
          <a:bodyPr/>
          <a:lstStyle/>
          <a:p>
            <a:r>
              <a:rPr lang="en-GB" altLang="en-US" dirty="0"/>
              <a:t>LP Model Formulation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9B11D0-09CD-F388-A8FD-5BC7711EFCB1}"/>
                  </a:ext>
                </a:extLst>
              </p:cNvPr>
              <p:cNvSpPr>
                <a:spLocks noGrp="1"/>
              </p:cNvSpPr>
              <p:nvPr>
                <p:ph idx="1"/>
              </p:nvPr>
            </p:nvSpPr>
            <p:spPr>
              <a:xfrm>
                <a:off x="913794" y="1634836"/>
                <a:ext cx="11278206" cy="5112328"/>
              </a:xfrm>
            </p:spPr>
            <p:txBody>
              <a:bodyPr>
                <a:noAutofit/>
              </a:bodyPr>
              <a:lstStyle/>
              <a:p>
                <a:r>
                  <a:rPr lang="en-GB" altLang="en-US" sz="1800" dirty="0"/>
                  <a:t>Decision Variables</a:t>
                </a:r>
              </a:p>
              <a:p>
                <a:pPr lvl="1"/>
                <a14:m>
                  <m:oMath xmlns:m="http://schemas.openxmlformats.org/officeDocument/2006/math">
                    <m:sSub>
                      <m:sSubPr>
                        <m:ctrlPr>
                          <a:rPr lang="en-GB" altLang="en-US" sz="2000" b="1" i="1" dirty="0" smtClean="0">
                            <a:latin typeface="Cambria Math" panose="02040503050406030204" pitchFamily="18" charset="0"/>
                          </a:rPr>
                        </m:ctrlPr>
                      </m:sSubPr>
                      <m:e>
                        <m:r>
                          <a:rPr lang="en-US" altLang="en-US" sz="2000" b="1" i="1" dirty="0" smtClean="0">
                            <a:latin typeface="Cambria Math" panose="02040503050406030204" pitchFamily="18" charset="0"/>
                          </a:rPr>
                          <m:t>𝒙</m:t>
                        </m:r>
                      </m:e>
                      <m:sub>
                        <m:r>
                          <a:rPr lang="en-US" altLang="en-US" sz="2000" b="1" i="1" dirty="0" smtClean="0">
                            <a:latin typeface="Cambria Math" panose="02040503050406030204" pitchFamily="18" charset="0"/>
                          </a:rPr>
                          <m:t>𝟏</m:t>
                        </m:r>
                      </m:sub>
                    </m:sSub>
                  </m:oMath>
                </a14:m>
                <a:r>
                  <a:rPr lang="en-GB" altLang="en-US" sz="2000" b="1" dirty="0"/>
                  <a:t> </a:t>
                </a:r>
                <a:r>
                  <a:rPr lang="en-GB" altLang="en-US" sz="2000" dirty="0"/>
                  <a:t>= number of bowls to produce per day</a:t>
                </a:r>
              </a:p>
              <a:p>
                <a:pPr lvl="1"/>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b="1" dirty="0"/>
                  <a:t> </a:t>
                </a:r>
                <a:r>
                  <a:rPr lang="en-GB" altLang="en-US" sz="2000" dirty="0"/>
                  <a:t>= number of mugs to produce per day </a:t>
                </a:r>
              </a:p>
              <a:p>
                <a:pPr marL="457200" lvl="1" indent="0">
                  <a:buNone/>
                </a:pPr>
                <a:endParaRPr lang="en-GB" altLang="en-US" sz="100" dirty="0"/>
              </a:p>
              <a:p>
                <a:r>
                  <a:rPr lang="en-GB" altLang="en-US" sz="1800" dirty="0"/>
                  <a:t>Objective Function</a:t>
                </a:r>
              </a:p>
              <a:p>
                <a:pPr lvl="1"/>
                <a:r>
                  <a:rPr lang="en-GB" altLang="en-US" sz="2000" dirty="0"/>
                  <a:t>Maximize Z = $40</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dirty="0"/>
                  <a:t> + $50</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b="1" dirty="0"/>
                  <a:t> </a:t>
                </a:r>
                <a:endParaRPr lang="en-GB" altLang="en-US" sz="2000" dirty="0"/>
              </a:p>
              <a:p>
                <a:pPr lvl="1"/>
                <a:r>
                  <a:rPr lang="en-GB" altLang="en-US" sz="2000" dirty="0"/>
                  <a:t>Where Z = profit per day</a:t>
                </a:r>
              </a:p>
              <a:p>
                <a:pPr marL="457200" lvl="1" indent="0">
                  <a:buNone/>
                </a:pPr>
                <a:endParaRPr lang="en-GB" altLang="en-US" sz="100" dirty="0"/>
              </a:p>
              <a:p>
                <a:r>
                  <a:rPr lang="en-GB" altLang="en-US" sz="1800" dirty="0"/>
                  <a:t>Resource Constraints</a:t>
                </a:r>
              </a:p>
              <a:p>
                <a:pPr lvl="1"/>
                <a:r>
                  <a:rPr lang="en-GB" altLang="en-US" sz="2000" dirty="0"/>
                  <a:t>1</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dirty="0"/>
                  <a:t> + 2</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dirty="0"/>
                  <a:t> </a:t>
                </a:r>
                <a:r>
                  <a:rPr lang="en-GB" altLang="en-US" sz="2000" dirty="0">
                    <a:sym typeface="Symbol" pitchFamily="18" charset="2"/>
                  </a:rPr>
                  <a:t></a:t>
                </a:r>
                <a:r>
                  <a:rPr lang="en-GB" altLang="en-US" sz="2000" dirty="0"/>
                  <a:t> 24 hours of labour</a:t>
                </a:r>
              </a:p>
              <a:p>
                <a:pPr lvl="1"/>
                <a:r>
                  <a:rPr lang="en-GB" altLang="en-US" sz="2000" dirty="0"/>
                  <a:t>4</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dirty="0"/>
                  <a:t> + 3</a:t>
                </a:r>
                <a:r>
                  <a:rPr lang="en-GB" altLang="en-US" sz="2000" b="1" dirty="0"/>
                  <a:t> </a:t>
                </a:r>
                <a14:m>
                  <m:oMath xmlns:m="http://schemas.openxmlformats.org/officeDocument/2006/math">
                    <m:sSub>
                      <m:sSubPr>
                        <m:ctrlPr>
                          <a:rPr lang="en-GB" altLang="en-US" sz="2000" b="1" i="1" dirty="0" smtClean="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dirty="0"/>
                  <a:t> </a:t>
                </a:r>
                <a:r>
                  <a:rPr lang="en-GB" altLang="en-US" sz="2000" dirty="0">
                    <a:sym typeface="Symbol" pitchFamily="18" charset="2"/>
                  </a:rPr>
                  <a:t></a:t>
                </a:r>
                <a:r>
                  <a:rPr lang="en-GB" altLang="en-US" sz="2000" dirty="0"/>
                  <a:t> 120 pounds of clay</a:t>
                </a:r>
              </a:p>
              <a:p>
                <a:pPr marL="457200" lvl="1" indent="0">
                  <a:buNone/>
                </a:pPr>
                <a:endParaRPr lang="en-GB" altLang="en-US" sz="100" dirty="0"/>
              </a:p>
              <a:p>
                <a:r>
                  <a:rPr lang="en-GB" altLang="en-US" sz="1800" dirty="0"/>
                  <a:t>Non-Negativity Constraints</a:t>
                </a:r>
                <a:endParaRPr lang="en-GB" sz="1800" dirty="0"/>
              </a:p>
              <a:p>
                <a:pPr lvl="1"/>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dirty="0"/>
                  <a:t> </a:t>
                </a:r>
                <a:r>
                  <a:rPr lang="en-GB" altLang="en-US" sz="2000" dirty="0">
                    <a:sym typeface="Symbol" pitchFamily="18" charset="2"/>
                  </a:rPr>
                  <a:t> 0;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dirty="0"/>
                  <a:t> </a:t>
                </a:r>
                <a:r>
                  <a:rPr lang="en-GB" altLang="en-US" sz="2000" dirty="0">
                    <a:sym typeface="Symbol" pitchFamily="18" charset="2"/>
                  </a:rPr>
                  <a:t> 0 </a:t>
                </a:r>
              </a:p>
            </p:txBody>
          </p:sp>
        </mc:Choice>
        <mc:Fallback xmlns="">
          <p:sp>
            <p:nvSpPr>
              <p:cNvPr id="3" name="Content Placeholder 2">
                <a:extLst>
                  <a:ext uri="{FF2B5EF4-FFF2-40B4-BE49-F238E27FC236}">
                    <a16:creationId xmlns:a16="http://schemas.microsoft.com/office/drawing/2014/main" id="{7B9B11D0-09CD-F388-A8FD-5BC7711EFCB1}"/>
                  </a:ext>
                </a:extLst>
              </p:cNvPr>
              <p:cNvSpPr>
                <a:spLocks noGrp="1" noRot="1" noChangeAspect="1" noMove="1" noResize="1" noEditPoints="1" noAdjustHandles="1" noChangeArrowheads="1" noChangeShapeType="1" noTextEdit="1"/>
              </p:cNvSpPr>
              <p:nvPr>
                <p:ph idx="1"/>
              </p:nvPr>
            </p:nvSpPr>
            <p:spPr>
              <a:xfrm>
                <a:off x="913794" y="1634836"/>
                <a:ext cx="11278206" cy="5112328"/>
              </a:xfrm>
              <a:blipFill>
                <a:blip r:embed="rId2"/>
                <a:stretch>
                  <a:fillRect l="-432" t="-238" b="-834"/>
                </a:stretch>
              </a:blipFill>
            </p:spPr>
            <p:txBody>
              <a:bodyPr/>
              <a:lstStyle/>
              <a:p>
                <a:r>
                  <a:rPr lang="en-US">
                    <a:noFill/>
                  </a:rPr>
                  <a:t> </a:t>
                </a:r>
              </a:p>
            </p:txBody>
          </p:sp>
        </mc:Fallback>
      </mc:AlternateContent>
      <p:graphicFrame>
        <p:nvGraphicFramePr>
          <p:cNvPr id="4" name="Group 5">
            <a:extLst>
              <a:ext uri="{FF2B5EF4-FFF2-40B4-BE49-F238E27FC236}">
                <a16:creationId xmlns:a16="http://schemas.microsoft.com/office/drawing/2014/main" id="{2F69D308-9212-D157-2182-5D304F17CEA5}"/>
              </a:ext>
            </a:extLst>
          </p:cNvPr>
          <p:cNvGraphicFramePr>
            <a:graphicFrameLocks noGrp="1"/>
          </p:cNvGraphicFramePr>
          <p:nvPr>
            <p:extLst>
              <p:ext uri="{D42A27DB-BD31-4B8C-83A1-F6EECF244321}">
                <p14:modId xmlns:p14="http://schemas.microsoft.com/office/powerpoint/2010/main" val="1962032624"/>
              </p:ext>
            </p:extLst>
          </p:nvPr>
        </p:nvGraphicFramePr>
        <p:xfrm>
          <a:off x="5897635" y="2961157"/>
          <a:ext cx="6073775" cy="1736824"/>
        </p:xfrm>
        <a:graphic>
          <a:graphicData uri="http://schemas.openxmlformats.org/drawingml/2006/table">
            <a:tbl>
              <a:tblPr>
                <a:tableStyleId>{073A0DAA-6AF3-43AB-8588-CEC1D06C72B9}</a:tableStyleId>
              </a:tblPr>
              <a:tblGrid>
                <a:gridCol w="15017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65606">
                <a:tc>
                  <a:txBody>
                    <a:bodyPr/>
                    <a:lstStyle/>
                    <a:p>
                      <a:pPr marL="0" marR="0" lvl="0" indent="0" algn="ctr" defTabSz="914400" rtl="0" eaLnBrk="1" fontAlgn="base" latinLnBrk="0" hangingPunct="1">
                        <a:lnSpc>
                          <a:spcPct val="100000"/>
                        </a:lnSpc>
                        <a:spcBef>
                          <a:spcPct val="20000"/>
                        </a:spcBef>
                        <a:spcAft>
                          <a:spcPct val="0"/>
                        </a:spcAft>
                        <a:buClr>
                          <a:srgbClr val="961212"/>
                        </a:buClr>
                        <a:buSzTx/>
                        <a:buFont typeface="Wingdings" pitchFamily="2" charset="2"/>
                        <a:buNone/>
                        <a:tabLst/>
                      </a:pPr>
                      <a:endParaRPr kumimoji="0" lang="en-US" sz="1800" b="1" i="0" u="none" strike="noStrike" cap="none" normalizeH="0" baseline="0" dirty="0">
                        <a:ln>
                          <a:noFill/>
                        </a:ln>
                        <a:solidFill>
                          <a:schemeClr val="accent2"/>
                        </a:solidFill>
                        <a:effectLst/>
                        <a:latin typeface="Arial" charset="0"/>
                      </a:endParaRPr>
                    </a:p>
                  </a:txBody>
                  <a:tcPr marT="45653" marB="45653" anchor="ctr" horzOverflow="overflow"/>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Resource Requirements</a:t>
                      </a:r>
                      <a:endParaRPr kumimoji="0" lang="en-US" sz="1800" b="1" i="0" u="none" strike="noStrike" cap="none" normalizeH="0" baseline="0" dirty="0">
                        <a:ln>
                          <a:noFill/>
                        </a:ln>
                        <a:solidFill>
                          <a:schemeClr val="accent2"/>
                        </a:solidFill>
                        <a:effectLst/>
                        <a:latin typeface="Times New Roman" pitchFamily="18" charset="0"/>
                        <a:cs typeface="Times New Roman" pitchFamily="18" charset="0"/>
                      </a:endParaRPr>
                    </a:p>
                  </a:txBody>
                  <a:tcPr marT="45653" marB="45653" anchor="ctr" horzOverflow="overflow"/>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63990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Product</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Labor</a:t>
                      </a:r>
                      <a:endParaRPr kumimoji="0" lang="en-GB" sz="180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u="none" strike="noStrike" cap="none" normalizeH="0" baseline="0" dirty="0">
                          <a:ln>
                            <a:noFill/>
                          </a:ln>
                          <a:effectLst/>
                        </a:rPr>
                        <a:t>(hr/unit)</a:t>
                      </a:r>
                      <a:endParaRPr kumimoji="0" lang="en-US" sz="1800" b="1" i="0" u="none" strike="noStrike" cap="none" normalizeH="0" baseline="0" dirty="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Clay</a:t>
                      </a:r>
                      <a:endParaRPr kumimoji="0" lang="en-GB" sz="180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u="none" strike="noStrike" cap="none" normalizeH="0" baseline="0" dirty="0">
                          <a:ln>
                            <a:noFill/>
                          </a:ln>
                          <a:effectLst/>
                        </a:rPr>
                        <a:t>(lb/unit)</a:t>
                      </a:r>
                      <a:endParaRPr kumimoji="0" lang="en-US" sz="1800" b="1" i="0" u="none" strike="noStrike" cap="none" normalizeH="0" baseline="0" dirty="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Profit</a:t>
                      </a:r>
                      <a:endParaRPr kumimoji="0" lang="en-GB" sz="1800" u="none" strike="noStrike" cap="none" normalizeH="0" baseline="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u="none" strike="noStrike" cap="none" normalizeH="0" baseline="0">
                          <a:ln>
                            <a:noFill/>
                          </a:ln>
                          <a:effectLst/>
                        </a:rPr>
                        <a:t>($/unit)</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extLst>
                  <a:ext uri="{0D108BD9-81ED-4DB2-BD59-A6C34878D82A}">
                    <a16:rowId xmlns:a16="http://schemas.microsoft.com/office/drawing/2014/main" val="10001"/>
                  </a:ext>
                </a:extLst>
              </a:tr>
              <a:tr h="3656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Bowl</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1</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4</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40</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extLst>
                  <a:ext uri="{0D108BD9-81ED-4DB2-BD59-A6C34878D82A}">
                    <a16:rowId xmlns:a16="http://schemas.microsoft.com/office/drawing/2014/main" val="10002"/>
                  </a:ext>
                </a:extLst>
              </a:tr>
              <a:tr h="3656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Mug</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2</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3</a:t>
                      </a:r>
                      <a:endParaRPr kumimoji="0" lang="en-US" sz="1800" b="1" i="0" u="none" strike="noStrike" cap="none" normalizeH="0" baseline="0">
                        <a:ln>
                          <a:noFill/>
                        </a:ln>
                        <a:solidFill>
                          <a:schemeClr val="accent2"/>
                        </a:solidFill>
                        <a:effectLst/>
                        <a:latin typeface="Arial" charset="0"/>
                        <a:ea typeface="Times New Roman" pitchFamily="18" charset="0"/>
                        <a:cs typeface="Arial" charset="0"/>
                      </a:endParaRPr>
                    </a:p>
                  </a:txBody>
                  <a:tcPr marT="45653" marB="4565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50</a:t>
                      </a:r>
                      <a:endParaRPr kumimoji="0" lang="en-US" sz="1800" b="1" i="0" u="none" strike="noStrike" cap="none" normalizeH="0" baseline="0" dirty="0">
                        <a:ln>
                          <a:noFill/>
                        </a:ln>
                        <a:solidFill>
                          <a:schemeClr val="accent2"/>
                        </a:solidFill>
                        <a:effectLst/>
                        <a:latin typeface="Arial" charset="0"/>
                        <a:ea typeface="Times New Roman" pitchFamily="18" charset="0"/>
                        <a:cs typeface="Arial" charset="0"/>
                      </a:endParaRPr>
                    </a:p>
                  </a:txBody>
                  <a:tcPr marT="45653" marB="45653" anchor="ctr" horzOverflow="overflow"/>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9337E54D-D60E-ECA5-AF1E-924B2D964EC9}"/>
              </a:ext>
            </a:extLst>
          </p:cNvPr>
          <p:cNvSpPr txBox="1"/>
          <p:nvPr/>
        </p:nvSpPr>
        <p:spPr>
          <a:xfrm>
            <a:off x="6068450" y="4799887"/>
            <a:ext cx="6096000" cy="923330"/>
          </a:xfrm>
          <a:prstGeom prst="rect">
            <a:avLst/>
          </a:prstGeom>
          <a:noFill/>
        </p:spPr>
        <p:txBody>
          <a:bodyPr wrap="square">
            <a:spAutoFit/>
          </a:bodyPr>
          <a:lstStyle/>
          <a:p>
            <a:r>
              <a:rPr lang="en-GB" altLang="en-US" b="1" dirty="0"/>
              <a:t>Resource Availability: </a:t>
            </a:r>
          </a:p>
          <a:p>
            <a:pPr marL="285750" indent="-285750">
              <a:buFont typeface="Arial" panose="020B0604020202020204" pitchFamily="34" charset="0"/>
              <a:buChar char="•"/>
            </a:pPr>
            <a:r>
              <a:rPr lang="en-GB" altLang="en-US" b="1" dirty="0"/>
              <a:t>24 hrs of labour per day </a:t>
            </a:r>
          </a:p>
          <a:p>
            <a:pPr marL="285750" indent="-285750">
              <a:buFont typeface="Arial" panose="020B0604020202020204" pitchFamily="34" charset="0"/>
              <a:buChar char="•"/>
            </a:pPr>
            <a:r>
              <a:rPr lang="en-GB" altLang="en-US" b="1" dirty="0"/>
              <a:t>120 lbs of clay</a:t>
            </a:r>
          </a:p>
        </p:txBody>
      </p:sp>
    </p:spTree>
    <p:extLst>
      <p:ext uri="{BB962C8B-B14F-4D97-AF65-F5344CB8AC3E}">
        <p14:creationId xmlns:p14="http://schemas.microsoft.com/office/powerpoint/2010/main" val="92374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500"/>
                                        <p:tgtEl>
                                          <p:spTgt spid="3">
                                            <p:txEl>
                                              <p:pRg st="12" end="1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53D9D-AFA0-42CB-1018-9B515EFF1F9F}"/>
              </a:ext>
            </a:extLst>
          </p:cNvPr>
          <p:cNvSpPr>
            <a:spLocks noGrp="1"/>
          </p:cNvSpPr>
          <p:nvPr>
            <p:ph type="title"/>
          </p:nvPr>
        </p:nvSpPr>
        <p:spPr/>
        <p:txBody>
          <a:bodyPr/>
          <a:lstStyle/>
          <a:p>
            <a:r>
              <a:rPr lang="en-GB" altLang="en-US" dirty="0"/>
              <a:t>LP Model Formulation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A4A5CB-5ED2-B4EB-AF93-FB6A1B53F647}"/>
                  </a:ext>
                </a:extLst>
              </p:cNvPr>
              <p:cNvSpPr>
                <a:spLocks noGrp="1"/>
              </p:cNvSpPr>
              <p:nvPr>
                <p:ph idx="1"/>
              </p:nvPr>
            </p:nvSpPr>
            <p:spPr/>
            <p:txBody>
              <a:bodyPr/>
              <a:lstStyle/>
              <a:p>
                <a:r>
                  <a:rPr lang="en-GB" altLang="en-US" dirty="0"/>
                  <a:t>Complete Linear Programming Model:</a:t>
                </a:r>
              </a:p>
              <a:p>
                <a:endParaRPr lang="en-GB" altLang="en-US" sz="100" dirty="0"/>
              </a:p>
              <a:p>
                <a:pPr marL="0" indent="0">
                  <a:buNone/>
                </a:pPr>
                <a:r>
                  <a:rPr lang="en-GB" altLang="en-US" dirty="0"/>
                  <a:t>Maximize  Z  =  $40</a:t>
                </a:r>
                <a:r>
                  <a:rPr lang="en-GB" altLang="en-US" sz="2000" b="1" dirty="0"/>
                  <a:t> </a:t>
                </a:r>
                <a14:m>
                  <m:oMath xmlns:m="http://schemas.openxmlformats.org/officeDocument/2006/math">
                    <m:sSub>
                      <m:sSubPr>
                        <m:ctrlPr>
                          <a:rPr lang="en-GB" altLang="en-US" sz="2000" b="1" i="1" dirty="0" smtClean="0">
                            <a:latin typeface="Cambria Math" panose="02040503050406030204" pitchFamily="18" charset="0"/>
                          </a:rPr>
                        </m:ctrlPr>
                      </m:sSubPr>
                      <m:e>
                        <m:r>
                          <a:rPr lang="en-US" altLang="en-US" sz="2000" b="1" i="1" dirty="0" smtClean="0">
                            <a:latin typeface="Cambria Math" panose="02040503050406030204" pitchFamily="18" charset="0"/>
                          </a:rPr>
                          <m:t>𝒙</m:t>
                        </m:r>
                      </m:e>
                      <m:sub>
                        <m:r>
                          <a:rPr lang="en-US" altLang="en-US" sz="2000" b="1" i="1" dirty="0" smtClean="0">
                            <a:latin typeface="Cambria Math" panose="02040503050406030204" pitchFamily="18" charset="0"/>
                          </a:rPr>
                          <m:t>𝟏</m:t>
                        </m:r>
                      </m:sub>
                    </m:sSub>
                  </m:oMath>
                </a14:m>
                <a:r>
                  <a:rPr lang="en-GB" altLang="en-US" dirty="0"/>
                  <a:t> + $50</a:t>
                </a:r>
                <a:r>
                  <a:rPr lang="en-GB" altLang="en-US" b="1" dirty="0"/>
                  <a:t> </a:t>
                </a:r>
                <a14:m>
                  <m:oMath xmlns:m="http://schemas.openxmlformats.org/officeDocument/2006/math">
                    <m:sSub>
                      <m:sSubPr>
                        <m:ctrlPr>
                          <a:rPr lang="en-GB" altLang="en-US" b="1" i="1" dirty="0">
                            <a:latin typeface="Cambria Math" panose="02040503050406030204" pitchFamily="18" charset="0"/>
                          </a:rPr>
                        </m:ctrlPr>
                      </m:sSubPr>
                      <m:e>
                        <m:r>
                          <a:rPr lang="en-US" altLang="en-US" b="1" i="1" dirty="0">
                            <a:latin typeface="Cambria Math" panose="02040503050406030204" pitchFamily="18" charset="0"/>
                          </a:rPr>
                          <m:t>𝒙</m:t>
                        </m:r>
                      </m:e>
                      <m:sub>
                        <m:r>
                          <a:rPr lang="en-US" altLang="en-US" b="1" i="1" dirty="0" smtClean="0">
                            <a:latin typeface="Cambria Math" panose="02040503050406030204" pitchFamily="18" charset="0"/>
                          </a:rPr>
                          <m:t>𝟐</m:t>
                        </m:r>
                      </m:sub>
                    </m:sSub>
                  </m:oMath>
                </a14:m>
                <a:endParaRPr lang="en-GB" altLang="en-US" dirty="0"/>
              </a:p>
              <a:p>
                <a:pPr marL="0" indent="0">
                  <a:buNone/>
                </a:pPr>
                <a:r>
                  <a:rPr lang="en-GB" altLang="en-US" dirty="0"/>
                  <a:t>Subject to:</a:t>
                </a:r>
              </a:p>
              <a:p>
                <a:pPr marL="457200" lvl="1" indent="0">
                  <a:buNone/>
                </a:pPr>
                <a:r>
                  <a:rPr lang="en-GB" altLang="en-US" sz="2000" dirty="0"/>
                  <a:t>1</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dirty="0"/>
                  <a:t> + 2</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dirty="0"/>
                  <a:t> </a:t>
                </a:r>
                <a:r>
                  <a:rPr lang="en-GB" altLang="en-US" sz="2000" dirty="0">
                    <a:sym typeface="Symbol" pitchFamily="18" charset="2"/>
                  </a:rPr>
                  <a:t></a:t>
                </a:r>
                <a:r>
                  <a:rPr lang="en-GB" altLang="en-US" sz="2000" dirty="0"/>
                  <a:t> 40</a:t>
                </a:r>
              </a:p>
              <a:p>
                <a:pPr marL="457200" lvl="1" indent="0">
                  <a:buNone/>
                </a:pPr>
                <a:r>
                  <a:rPr lang="en-GB" altLang="en-US" sz="2000" dirty="0"/>
                  <a:t>4</a:t>
                </a:r>
                <a:r>
                  <a:rPr lang="en-GB" altLang="en-US" sz="2000" b="1" dirty="0"/>
                  <a:t>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dirty="0"/>
                  <a:t> + 3</a:t>
                </a:r>
                <a:r>
                  <a:rPr lang="en-GB" altLang="en-US" sz="2000" b="1" dirty="0"/>
                  <a:t> </a:t>
                </a:r>
                <a14:m>
                  <m:oMath xmlns:m="http://schemas.openxmlformats.org/officeDocument/2006/math">
                    <m:sSub>
                      <m:sSubPr>
                        <m:ctrlPr>
                          <a:rPr lang="en-GB" altLang="en-US" sz="2000" b="1" i="1" dirty="0" smtClean="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dirty="0"/>
                  <a:t> </a:t>
                </a:r>
                <a:r>
                  <a:rPr lang="en-GB" altLang="en-US" sz="2000" dirty="0">
                    <a:sym typeface="Symbol" pitchFamily="18" charset="2"/>
                  </a:rPr>
                  <a:t></a:t>
                </a:r>
                <a:r>
                  <a:rPr lang="en-GB" altLang="en-US" sz="2000" dirty="0"/>
                  <a:t> 120 </a:t>
                </a:r>
              </a:p>
              <a:p>
                <a:pPr marL="457200" lvl="1" indent="0">
                  <a:buNone/>
                </a:pPr>
                <a14:m>
                  <m:oMath xmlns:m="http://schemas.openxmlformats.org/officeDocument/2006/math">
                    <m:sSub>
                      <m:sSubPr>
                        <m:ctrlPr>
                          <a:rPr lang="en-GB" altLang="en-US" sz="2000" b="1" i="1" dirty="0" smtClean="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dirty="0"/>
                  <a:t> </a:t>
                </a:r>
                <a:r>
                  <a:rPr lang="en-GB" altLang="en-US" sz="2000" dirty="0">
                    <a:sym typeface="Symbol" pitchFamily="18" charset="2"/>
                  </a:rPr>
                  <a:t> 0;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smtClean="0">
                            <a:latin typeface="Cambria Math" panose="02040503050406030204" pitchFamily="18" charset="0"/>
                          </a:rPr>
                          <m:t>𝟐</m:t>
                        </m:r>
                      </m:sub>
                    </m:sSub>
                  </m:oMath>
                </a14:m>
                <a:r>
                  <a:rPr lang="en-GB" altLang="en-US" sz="2000" dirty="0"/>
                  <a:t> </a:t>
                </a:r>
                <a:r>
                  <a:rPr lang="en-GB" altLang="en-US" sz="2000" dirty="0">
                    <a:sym typeface="Symbol" pitchFamily="18" charset="2"/>
                  </a:rPr>
                  <a:t> 0 </a:t>
                </a:r>
              </a:p>
            </p:txBody>
          </p:sp>
        </mc:Choice>
        <mc:Fallback xmlns="">
          <p:sp>
            <p:nvSpPr>
              <p:cNvPr id="3" name="Content Placeholder 2">
                <a:extLst>
                  <a:ext uri="{FF2B5EF4-FFF2-40B4-BE49-F238E27FC236}">
                    <a16:creationId xmlns:a16="http://schemas.microsoft.com/office/drawing/2014/main" id="{33A4A5CB-5ED2-B4EB-AF93-FB6A1B53F647}"/>
                  </a:ext>
                </a:extLst>
              </p:cNvPr>
              <p:cNvSpPr>
                <a:spLocks noGrp="1" noRot="1" noChangeAspect="1" noMove="1" noResize="1" noEditPoints="1" noAdjustHandles="1" noChangeArrowheads="1" noChangeShapeType="1" noTextEdit="1"/>
              </p:cNvSpPr>
              <p:nvPr>
                <p:ph idx="1"/>
              </p:nvPr>
            </p:nvSpPr>
            <p:spPr>
              <a:blipFill>
                <a:blip r:embed="rId2"/>
                <a:stretch>
                  <a:fillRect l="-707" t="-330"/>
                </a:stretch>
              </a:blipFill>
            </p:spPr>
            <p:txBody>
              <a:bodyPr/>
              <a:lstStyle/>
              <a:p>
                <a:r>
                  <a:rPr lang="en-US">
                    <a:noFill/>
                  </a:rPr>
                  <a:t> </a:t>
                </a:r>
              </a:p>
            </p:txBody>
          </p:sp>
        </mc:Fallback>
      </mc:AlternateContent>
    </p:spTree>
    <p:extLst>
      <p:ext uri="{BB962C8B-B14F-4D97-AF65-F5344CB8AC3E}">
        <p14:creationId xmlns:p14="http://schemas.microsoft.com/office/powerpoint/2010/main" val="1290470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5ABB-7E18-C822-B754-C9F368069AC5}"/>
              </a:ext>
            </a:extLst>
          </p:cNvPr>
          <p:cNvSpPr>
            <a:spLocks noGrp="1"/>
          </p:cNvSpPr>
          <p:nvPr>
            <p:ph type="title"/>
          </p:nvPr>
        </p:nvSpPr>
        <p:spPr>
          <a:xfrm>
            <a:off x="919119" y="96981"/>
            <a:ext cx="10353761" cy="1326321"/>
          </a:xfrm>
        </p:spPr>
        <p:txBody>
          <a:bodyPr/>
          <a:lstStyle/>
          <a:p>
            <a:r>
              <a:rPr lang="en-GB" altLang="en-US" dirty="0"/>
              <a:t>Product-mix Problem (example 2)</a:t>
            </a:r>
            <a:endParaRPr lang="en-US" dirty="0"/>
          </a:p>
        </p:txBody>
      </p:sp>
      <p:sp>
        <p:nvSpPr>
          <p:cNvPr id="3" name="Content Placeholder 2">
            <a:extLst>
              <a:ext uri="{FF2B5EF4-FFF2-40B4-BE49-F238E27FC236}">
                <a16:creationId xmlns:a16="http://schemas.microsoft.com/office/drawing/2014/main" id="{B5BE6864-EBF5-D00D-8B82-B7C6E4803DFA}"/>
              </a:ext>
            </a:extLst>
          </p:cNvPr>
          <p:cNvSpPr>
            <a:spLocks noGrp="1"/>
          </p:cNvSpPr>
          <p:nvPr>
            <p:ph idx="1"/>
          </p:nvPr>
        </p:nvSpPr>
        <p:spPr>
          <a:xfrm>
            <a:off x="41565" y="1128102"/>
            <a:ext cx="11971538" cy="2370173"/>
          </a:xfrm>
        </p:spPr>
        <p:txBody>
          <a:bodyPr>
            <a:normAutofit/>
          </a:bodyPr>
          <a:lstStyle/>
          <a:p>
            <a:r>
              <a:rPr lang="en-GB" altLang="en-US" dirty="0"/>
              <a:t>The product-mix problem at an electronics manufacturer</a:t>
            </a:r>
          </a:p>
          <a:p>
            <a:r>
              <a:rPr lang="en-GB" altLang="en-US" dirty="0"/>
              <a:t>Two products</a:t>
            </a:r>
          </a:p>
          <a:p>
            <a:pPr lvl="1"/>
            <a:r>
              <a:rPr lang="en-GB" altLang="en-US" sz="2000" dirty="0"/>
              <a:t>A DVD player</a:t>
            </a:r>
          </a:p>
          <a:p>
            <a:pPr lvl="1"/>
            <a:r>
              <a:rPr lang="en-GB" altLang="en-US" sz="2000" dirty="0"/>
              <a:t>A mobile phone</a:t>
            </a:r>
          </a:p>
          <a:p>
            <a:r>
              <a:rPr lang="en-GB" altLang="en-US" dirty="0"/>
              <a:t>Determine the mix of products that will produce the maximum profit</a:t>
            </a:r>
          </a:p>
        </p:txBody>
      </p:sp>
      <p:grpSp>
        <p:nvGrpSpPr>
          <p:cNvPr id="4" name="Group 3">
            <a:extLst>
              <a:ext uri="{FF2B5EF4-FFF2-40B4-BE49-F238E27FC236}">
                <a16:creationId xmlns:a16="http://schemas.microsoft.com/office/drawing/2014/main" id="{E387FED6-805B-257B-7418-A5E4966DA282}"/>
              </a:ext>
            </a:extLst>
          </p:cNvPr>
          <p:cNvGrpSpPr>
            <a:grpSpLocks/>
          </p:cNvGrpSpPr>
          <p:nvPr/>
        </p:nvGrpSpPr>
        <p:grpSpPr bwMode="auto">
          <a:xfrm>
            <a:off x="1142698" y="3625274"/>
            <a:ext cx="9906605" cy="3149600"/>
            <a:chOff x="359" y="1112"/>
            <a:chExt cx="5029" cy="1984"/>
          </a:xfrm>
        </p:grpSpPr>
        <p:sp>
          <p:nvSpPr>
            <p:cNvPr id="5" name="Rectangle 4">
              <a:extLst>
                <a:ext uri="{FF2B5EF4-FFF2-40B4-BE49-F238E27FC236}">
                  <a16:creationId xmlns:a16="http://schemas.microsoft.com/office/drawing/2014/main" id="{7BB486E9-F983-096E-76B8-D83B9EB572C9}"/>
                </a:ext>
              </a:extLst>
            </p:cNvPr>
            <p:cNvSpPr>
              <a:spLocks noChangeArrowheads="1"/>
            </p:cNvSpPr>
            <p:nvPr/>
          </p:nvSpPr>
          <p:spPr bwMode="auto">
            <a:xfrm>
              <a:off x="359" y="1498"/>
              <a:ext cx="3953" cy="582"/>
            </a:xfrm>
            <a:prstGeom prst="rect">
              <a:avLst/>
            </a:prstGeom>
            <a:noFill/>
            <a:ln w="9525">
              <a:noFill/>
              <a:miter lim="800000"/>
              <a:headEnd/>
              <a:tailEnd/>
            </a:ln>
            <a:effectLst/>
          </p:spPr>
          <p:txBody>
            <a:bodyPr wrap="none">
              <a:spAutoFit/>
            </a:bodyPr>
            <a:lstStyle/>
            <a:p>
              <a:pPr>
                <a:tabLst>
                  <a:tab pos="2667000" algn="ctr"/>
                  <a:tab pos="4381500" algn="ctr"/>
                  <a:tab pos="6667500" algn="ctr"/>
                </a:tabLst>
                <a:defRPr/>
              </a:pPr>
              <a:r>
                <a:rPr lang="en-US" b="1" i="1" dirty="0">
                  <a:latin typeface="+mn-lt"/>
                </a:rPr>
                <a:t>		</a:t>
              </a:r>
            </a:p>
            <a:p>
              <a:pPr>
                <a:tabLst>
                  <a:tab pos="2667000" algn="ctr"/>
                  <a:tab pos="4381500" algn="ctr"/>
                  <a:tab pos="6667500" algn="ctr"/>
                </a:tabLst>
                <a:defRPr/>
              </a:pPr>
              <a:r>
                <a:rPr lang="en-US" b="1" i="1" dirty="0">
                  <a:latin typeface="+mn-lt"/>
                </a:rPr>
                <a:t>	DVD Player	Mobile Phone	Available Hours</a:t>
              </a:r>
            </a:p>
            <a:p>
              <a:pPr>
                <a:tabLst>
                  <a:tab pos="2667000" algn="ctr"/>
                  <a:tab pos="4381500" algn="ctr"/>
                  <a:tab pos="6667500" algn="ctr"/>
                </a:tabLst>
                <a:defRPr/>
              </a:pPr>
              <a:r>
                <a:rPr lang="en-US" b="1" i="1" dirty="0">
                  <a:latin typeface="+mn-lt"/>
                </a:rPr>
                <a:t>Department	</a:t>
              </a:r>
              <a:r>
                <a:rPr lang="en-US" b="1" dirty="0">
                  <a:latin typeface="+mn-lt"/>
                </a:rPr>
                <a:t>(</a:t>
              </a:r>
              <a:r>
                <a:rPr lang="en-US" b="1" i="1" dirty="0">
                  <a:latin typeface="+mn-lt"/>
                </a:rPr>
                <a:t>X</a:t>
              </a:r>
              <a:r>
                <a:rPr lang="en-US" b="1" baseline="-25000" dirty="0">
                  <a:latin typeface="+mn-lt"/>
                </a:rPr>
                <a:t>1</a:t>
              </a:r>
              <a:r>
                <a:rPr lang="en-US" b="1" dirty="0">
                  <a:latin typeface="+mn-lt"/>
                </a:rPr>
                <a:t>)</a:t>
              </a:r>
              <a:r>
                <a:rPr lang="en-US" b="1" i="1" dirty="0">
                  <a:latin typeface="+mn-lt"/>
                </a:rPr>
                <a:t>	</a:t>
              </a:r>
              <a:r>
                <a:rPr lang="en-US" b="1" dirty="0">
                  <a:latin typeface="+mn-lt"/>
                </a:rPr>
                <a:t>(</a:t>
              </a:r>
              <a:r>
                <a:rPr lang="en-US" b="1" i="1" dirty="0">
                  <a:latin typeface="+mn-lt"/>
                </a:rPr>
                <a:t>X</a:t>
              </a:r>
              <a:r>
                <a:rPr lang="en-US" b="1" baseline="-25000" dirty="0">
                  <a:latin typeface="+mn-lt"/>
                </a:rPr>
                <a:t>2</a:t>
              </a:r>
              <a:r>
                <a:rPr lang="en-US" b="1" dirty="0">
                  <a:latin typeface="+mn-lt"/>
                </a:rPr>
                <a:t>)</a:t>
              </a:r>
              <a:r>
                <a:rPr lang="en-US" b="1" i="1" dirty="0">
                  <a:latin typeface="+mn-lt"/>
                </a:rPr>
                <a:t>	This Week</a:t>
              </a:r>
            </a:p>
          </p:txBody>
        </p:sp>
        <p:sp>
          <p:nvSpPr>
            <p:cNvPr id="6" name="Rectangle 5">
              <a:extLst>
                <a:ext uri="{FF2B5EF4-FFF2-40B4-BE49-F238E27FC236}">
                  <a16:creationId xmlns:a16="http://schemas.microsoft.com/office/drawing/2014/main" id="{41C877DA-5A26-CB4D-D566-62BB099B45B2}"/>
                </a:ext>
              </a:extLst>
            </p:cNvPr>
            <p:cNvSpPr>
              <a:spLocks noChangeArrowheads="1"/>
            </p:cNvSpPr>
            <p:nvPr/>
          </p:nvSpPr>
          <p:spPr bwMode="auto">
            <a:xfrm>
              <a:off x="2068" y="1147"/>
              <a:ext cx="1043" cy="372"/>
            </a:xfrm>
            <a:prstGeom prst="rect">
              <a:avLst/>
            </a:prstGeom>
            <a:noFill/>
            <a:ln w="9525">
              <a:noFill/>
              <a:miter lim="800000"/>
              <a:headEnd/>
              <a:tailEnd/>
            </a:ln>
            <a:effectLst/>
          </p:spPr>
          <p:txBody>
            <a:bodyPr wrap="none">
              <a:spAutoFit/>
            </a:bodyPr>
            <a:lstStyle/>
            <a:p>
              <a:pPr algn="ctr">
                <a:lnSpc>
                  <a:spcPct val="90000"/>
                </a:lnSpc>
                <a:defRPr/>
              </a:pPr>
              <a:r>
                <a:rPr lang="en-US" b="1" i="1" dirty="0">
                  <a:latin typeface="+mn-lt"/>
                </a:rPr>
                <a:t>Hours Required </a:t>
              </a:r>
            </a:p>
            <a:p>
              <a:pPr algn="ctr">
                <a:lnSpc>
                  <a:spcPct val="90000"/>
                </a:lnSpc>
                <a:defRPr/>
              </a:pPr>
              <a:r>
                <a:rPr lang="en-US" b="1" i="1" dirty="0">
                  <a:latin typeface="+mn-lt"/>
                </a:rPr>
                <a:t>to Produce 1 Unit</a:t>
              </a:r>
            </a:p>
          </p:txBody>
        </p:sp>
        <p:sp>
          <p:nvSpPr>
            <p:cNvPr id="7" name="Rectangle 6">
              <a:extLst>
                <a:ext uri="{FF2B5EF4-FFF2-40B4-BE49-F238E27FC236}">
                  <a16:creationId xmlns:a16="http://schemas.microsoft.com/office/drawing/2014/main" id="{E8C4E0B3-6DD2-6A14-ADC2-7C5EC8DFD08B}"/>
                </a:ext>
              </a:extLst>
            </p:cNvPr>
            <p:cNvSpPr>
              <a:spLocks noChangeArrowheads="1"/>
            </p:cNvSpPr>
            <p:nvPr/>
          </p:nvSpPr>
          <p:spPr bwMode="auto">
            <a:xfrm>
              <a:off x="359" y="2160"/>
              <a:ext cx="4596" cy="692"/>
            </a:xfrm>
            <a:prstGeom prst="rect">
              <a:avLst/>
            </a:prstGeom>
            <a:noFill/>
            <a:ln w="9525">
              <a:noFill/>
              <a:miter lim="800000"/>
              <a:headEnd/>
              <a:tailEnd/>
            </a:ln>
            <a:effectLst/>
          </p:spPr>
          <p:txBody>
            <a:bodyPr>
              <a:spAutoFit/>
            </a:bodyPr>
            <a:lstStyle/>
            <a:p>
              <a:pPr>
                <a:lnSpc>
                  <a:spcPct val="125000"/>
                </a:lnSpc>
                <a:tabLst>
                  <a:tab pos="2857500" algn="r"/>
                  <a:tab pos="4572000" algn="r"/>
                  <a:tab pos="6858000" algn="r"/>
                </a:tabLst>
                <a:defRPr/>
              </a:pPr>
              <a:r>
                <a:rPr lang="en-US" b="1" i="1" dirty="0">
                  <a:latin typeface="+mn-lt"/>
                </a:rPr>
                <a:t>Electronic	</a:t>
              </a:r>
              <a:r>
                <a:rPr lang="en-US" b="1" dirty="0">
                  <a:latin typeface="+mn-lt"/>
                </a:rPr>
                <a:t>4	3	240</a:t>
              </a:r>
            </a:p>
            <a:p>
              <a:pPr>
                <a:lnSpc>
                  <a:spcPct val="125000"/>
                </a:lnSpc>
                <a:tabLst>
                  <a:tab pos="2857500" algn="r"/>
                  <a:tab pos="4572000" algn="r"/>
                  <a:tab pos="6858000" algn="r"/>
                </a:tabLst>
                <a:defRPr/>
              </a:pPr>
              <a:r>
                <a:rPr lang="en-US" b="1" i="1" dirty="0">
                  <a:latin typeface="+mn-lt"/>
                </a:rPr>
                <a:t>Assembly	</a:t>
              </a:r>
              <a:r>
                <a:rPr lang="en-US" b="1" dirty="0">
                  <a:latin typeface="+mn-lt"/>
                </a:rPr>
                <a:t>2	1	100</a:t>
              </a:r>
              <a:endParaRPr lang="en-US" b="1" i="1" dirty="0">
                <a:latin typeface="+mn-lt"/>
              </a:endParaRPr>
            </a:p>
            <a:p>
              <a:pPr>
                <a:lnSpc>
                  <a:spcPct val="125000"/>
                </a:lnSpc>
                <a:tabLst>
                  <a:tab pos="2857500" algn="r"/>
                  <a:tab pos="4572000" algn="r"/>
                  <a:tab pos="6858000" algn="r"/>
                </a:tabLst>
                <a:defRPr/>
              </a:pPr>
              <a:r>
                <a:rPr lang="en-US" b="1" i="1" dirty="0">
                  <a:latin typeface="+mn-lt"/>
                </a:rPr>
                <a:t>Profit per unit	</a:t>
              </a:r>
              <a:r>
                <a:rPr lang="en-US" b="1" dirty="0">
                  <a:latin typeface="+mn-lt"/>
                </a:rPr>
                <a:t>$7	$5</a:t>
              </a:r>
              <a:endParaRPr lang="en-US" b="1" i="1" dirty="0">
                <a:latin typeface="+mn-lt"/>
              </a:endParaRPr>
            </a:p>
          </p:txBody>
        </p:sp>
        <p:sp>
          <p:nvSpPr>
            <p:cNvPr id="8" name="Line 7">
              <a:extLst>
                <a:ext uri="{FF2B5EF4-FFF2-40B4-BE49-F238E27FC236}">
                  <a16:creationId xmlns:a16="http://schemas.microsoft.com/office/drawing/2014/main" id="{4E23F9AD-8879-F680-01C7-D99CEDDF68DB}"/>
                </a:ext>
              </a:extLst>
            </p:cNvPr>
            <p:cNvSpPr>
              <a:spLocks noChangeShapeType="1"/>
            </p:cNvSpPr>
            <p:nvPr/>
          </p:nvSpPr>
          <p:spPr bwMode="auto">
            <a:xfrm>
              <a:off x="372" y="2200"/>
              <a:ext cx="5016" cy="0"/>
            </a:xfrm>
            <a:prstGeom prst="line">
              <a:avLst/>
            </a:prstGeom>
            <a:noFill/>
            <a:ln w="28575">
              <a:solidFill>
                <a:schemeClr val="tx1"/>
              </a:solidFill>
              <a:round/>
              <a:headEnd/>
              <a:tailEnd/>
            </a:ln>
            <a:effectLst/>
          </p:spPr>
          <p:txBody>
            <a:bodyPr wrap="none" anchor="ctr"/>
            <a:lstStyle/>
            <a:p>
              <a:pPr>
                <a:defRPr/>
              </a:pPr>
              <a:endParaRPr lang="en-GB">
                <a:latin typeface="+mn-lt"/>
              </a:endParaRPr>
            </a:p>
          </p:txBody>
        </p:sp>
        <p:sp>
          <p:nvSpPr>
            <p:cNvPr id="9" name="Line 8">
              <a:extLst>
                <a:ext uri="{FF2B5EF4-FFF2-40B4-BE49-F238E27FC236}">
                  <a16:creationId xmlns:a16="http://schemas.microsoft.com/office/drawing/2014/main" id="{7261821D-1B50-91A4-6531-6F2EE74A6735}"/>
                </a:ext>
              </a:extLst>
            </p:cNvPr>
            <p:cNvSpPr>
              <a:spLocks noChangeShapeType="1"/>
            </p:cNvSpPr>
            <p:nvPr/>
          </p:nvSpPr>
          <p:spPr bwMode="auto">
            <a:xfrm>
              <a:off x="372" y="1112"/>
              <a:ext cx="5016" cy="0"/>
            </a:xfrm>
            <a:prstGeom prst="line">
              <a:avLst/>
            </a:prstGeom>
            <a:noFill/>
            <a:ln w="38100">
              <a:solidFill>
                <a:schemeClr val="tx1"/>
              </a:solidFill>
              <a:round/>
              <a:headEnd/>
              <a:tailEnd/>
            </a:ln>
            <a:effectLst/>
          </p:spPr>
          <p:txBody>
            <a:bodyPr wrap="none" anchor="ctr"/>
            <a:lstStyle/>
            <a:p>
              <a:pPr>
                <a:defRPr/>
              </a:pPr>
              <a:endParaRPr lang="en-GB">
                <a:latin typeface="+mn-lt"/>
              </a:endParaRPr>
            </a:p>
          </p:txBody>
        </p:sp>
        <p:sp>
          <p:nvSpPr>
            <p:cNvPr id="10" name="Line 9">
              <a:extLst>
                <a:ext uri="{FF2B5EF4-FFF2-40B4-BE49-F238E27FC236}">
                  <a16:creationId xmlns:a16="http://schemas.microsoft.com/office/drawing/2014/main" id="{A95E9762-56F6-3B21-59C0-E3AAEA1BBF15}"/>
                </a:ext>
              </a:extLst>
            </p:cNvPr>
            <p:cNvSpPr>
              <a:spLocks noChangeShapeType="1"/>
            </p:cNvSpPr>
            <p:nvPr/>
          </p:nvSpPr>
          <p:spPr bwMode="auto">
            <a:xfrm>
              <a:off x="372" y="3096"/>
              <a:ext cx="5016" cy="0"/>
            </a:xfrm>
            <a:prstGeom prst="line">
              <a:avLst/>
            </a:prstGeom>
            <a:noFill/>
            <a:ln w="38100">
              <a:solidFill>
                <a:schemeClr val="tx1"/>
              </a:solidFill>
              <a:round/>
              <a:headEnd/>
              <a:tailEnd/>
            </a:ln>
            <a:effectLst/>
          </p:spPr>
          <p:txBody>
            <a:bodyPr wrap="none" anchor="ctr"/>
            <a:lstStyle/>
            <a:p>
              <a:pPr>
                <a:defRPr/>
              </a:pPr>
              <a:endParaRPr lang="en-GB">
                <a:latin typeface="+mn-lt"/>
              </a:endParaRPr>
            </a:p>
          </p:txBody>
        </p:sp>
        <p:sp>
          <p:nvSpPr>
            <p:cNvPr id="11" name="Line 10">
              <a:extLst>
                <a:ext uri="{FF2B5EF4-FFF2-40B4-BE49-F238E27FC236}">
                  <a16:creationId xmlns:a16="http://schemas.microsoft.com/office/drawing/2014/main" id="{A6C452A0-DE4B-0DA2-1F45-5DC8B481926B}"/>
                </a:ext>
              </a:extLst>
            </p:cNvPr>
            <p:cNvSpPr>
              <a:spLocks noChangeShapeType="1"/>
            </p:cNvSpPr>
            <p:nvPr/>
          </p:nvSpPr>
          <p:spPr bwMode="auto">
            <a:xfrm>
              <a:off x="1576" y="1632"/>
              <a:ext cx="2192" cy="0"/>
            </a:xfrm>
            <a:prstGeom prst="line">
              <a:avLst/>
            </a:prstGeom>
            <a:noFill/>
            <a:ln w="28575">
              <a:solidFill>
                <a:schemeClr val="tx1"/>
              </a:solidFill>
              <a:round/>
              <a:headEnd/>
              <a:tailEnd/>
            </a:ln>
            <a:effectLst/>
          </p:spPr>
          <p:txBody>
            <a:bodyPr wrap="none" anchor="ctr"/>
            <a:lstStyle/>
            <a:p>
              <a:pPr>
                <a:defRPr/>
              </a:pPr>
              <a:endParaRPr lang="en-GB">
                <a:latin typeface="+mn-lt"/>
              </a:endParaRPr>
            </a:p>
          </p:txBody>
        </p:sp>
      </p:grpSp>
    </p:spTree>
    <p:extLst>
      <p:ext uri="{BB962C8B-B14F-4D97-AF65-F5344CB8AC3E}">
        <p14:creationId xmlns:p14="http://schemas.microsoft.com/office/powerpoint/2010/main" val="273154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78006-A9E8-AB39-1ACA-6C8EABD27B5E}"/>
              </a:ext>
            </a:extLst>
          </p:cNvPr>
          <p:cNvSpPr>
            <a:spLocks noGrp="1"/>
          </p:cNvSpPr>
          <p:nvPr>
            <p:ph type="title"/>
          </p:nvPr>
        </p:nvSpPr>
        <p:spPr>
          <a:xfrm>
            <a:off x="913795" y="27700"/>
            <a:ext cx="10353761" cy="1326321"/>
          </a:xfrm>
        </p:spPr>
        <p:txBody>
          <a:bodyPr/>
          <a:lstStyle/>
          <a:p>
            <a:r>
              <a:rPr lang="en-US" dirty="0"/>
              <a:t>LP Model Formulation</a:t>
            </a:r>
          </a:p>
        </p:txBody>
      </p:sp>
      <p:grpSp>
        <p:nvGrpSpPr>
          <p:cNvPr id="14" name="Group 13">
            <a:extLst>
              <a:ext uri="{FF2B5EF4-FFF2-40B4-BE49-F238E27FC236}">
                <a16:creationId xmlns:a16="http://schemas.microsoft.com/office/drawing/2014/main" id="{8257F11F-1A41-7273-9CFA-A3085824CCCF}"/>
              </a:ext>
            </a:extLst>
          </p:cNvPr>
          <p:cNvGrpSpPr>
            <a:grpSpLocks/>
          </p:cNvGrpSpPr>
          <p:nvPr/>
        </p:nvGrpSpPr>
        <p:grpSpPr bwMode="auto">
          <a:xfrm>
            <a:off x="1142698" y="1034475"/>
            <a:ext cx="9857811" cy="2512290"/>
            <a:chOff x="359" y="1112"/>
            <a:chExt cx="5029" cy="1984"/>
          </a:xfrm>
        </p:grpSpPr>
        <p:sp>
          <p:nvSpPr>
            <p:cNvPr id="15" name="Rectangle 14">
              <a:extLst>
                <a:ext uri="{FF2B5EF4-FFF2-40B4-BE49-F238E27FC236}">
                  <a16:creationId xmlns:a16="http://schemas.microsoft.com/office/drawing/2014/main" id="{B3709242-EFB4-6DFA-9922-116C7CD6280E}"/>
                </a:ext>
              </a:extLst>
            </p:cNvPr>
            <p:cNvSpPr>
              <a:spLocks noChangeArrowheads="1"/>
            </p:cNvSpPr>
            <p:nvPr/>
          </p:nvSpPr>
          <p:spPr bwMode="auto">
            <a:xfrm>
              <a:off x="359" y="1498"/>
              <a:ext cx="3903" cy="523"/>
            </a:xfrm>
            <a:prstGeom prst="rect">
              <a:avLst/>
            </a:prstGeom>
            <a:noFill/>
            <a:ln w="9525">
              <a:noFill/>
              <a:miter lim="800000"/>
              <a:headEnd/>
              <a:tailEnd/>
            </a:ln>
            <a:effectLst/>
          </p:spPr>
          <p:txBody>
            <a:bodyPr wrap="none">
              <a:spAutoFit/>
            </a:bodyPr>
            <a:lstStyle/>
            <a:p>
              <a:pPr>
                <a:tabLst>
                  <a:tab pos="2667000" algn="ctr"/>
                  <a:tab pos="4381500" algn="ctr"/>
                  <a:tab pos="6667500" algn="ctr"/>
                </a:tabLst>
                <a:defRPr/>
              </a:pPr>
              <a:r>
                <a:rPr lang="en-US" sz="1600" b="1" i="1" dirty="0">
                  <a:latin typeface="+mn-lt"/>
                </a:rPr>
                <a:t>		</a:t>
              </a:r>
            </a:p>
            <a:p>
              <a:pPr>
                <a:tabLst>
                  <a:tab pos="2667000" algn="ctr"/>
                  <a:tab pos="4381500" algn="ctr"/>
                  <a:tab pos="6667500" algn="ctr"/>
                </a:tabLst>
                <a:defRPr/>
              </a:pPr>
              <a:r>
                <a:rPr lang="en-US" sz="1600" b="1" i="1" dirty="0">
                  <a:latin typeface="+mn-lt"/>
                </a:rPr>
                <a:t>	DVD Player	Mobile Phone	Available Hours</a:t>
              </a:r>
            </a:p>
            <a:p>
              <a:pPr>
                <a:tabLst>
                  <a:tab pos="2667000" algn="ctr"/>
                  <a:tab pos="4381500" algn="ctr"/>
                  <a:tab pos="6667500" algn="ctr"/>
                </a:tabLst>
                <a:defRPr/>
              </a:pPr>
              <a:r>
                <a:rPr lang="en-US" sz="1600" b="1" i="1" dirty="0">
                  <a:latin typeface="+mn-lt"/>
                </a:rPr>
                <a:t>Department	</a:t>
              </a:r>
              <a:r>
                <a:rPr lang="en-US" sz="1600" b="1" dirty="0">
                  <a:latin typeface="+mn-lt"/>
                </a:rPr>
                <a:t>(</a:t>
              </a:r>
              <a:r>
                <a:rPr lang="en-US" sz="1600" b="1" i="1" dirty="0">
                  <a:latin typeface="+mn-lt"/>
                </a:rPr>
                <a:t>X</a:t>
              </a:r>
              <a:r>
                <a:rPr lang="en-US" sz="1600" b="1" baseline="-25000" dirty="0">
                  <a:latin typeface="+mn-lt"/>
                </a:rPr>
                <a:t>1</a:t>
              </a:r>
              <a:r>
                <a:rPr lang="en-US" sz="1600" b="1" dirty="0">
                  <a:latin typeface="+mn-lt"/>
                </a:rPr>
                <a:t>)</a:t>
              </a:r>
              <a:r>
                <a:rPr lang="en-US" sz="1600" b="1" i="1" dirty="0">
                  <a:latin typeface="+mn-lt"/>
                </a:rPr>
                <a:t>	</a:t>
              </a:r>
              <a:r>
                <a:rPr lang="en-US" sz="1600" b="1" dirty="0">
                  <a:latin typeface="+mn-lt"/>
                </a:rPr>
                <a:t>(</a:t>
              </a:r>
              <a:r>
                <a:rPr lang="en-US" sz="1600" b="1" i="1" dirty="0">
                  <a:latin typeface="+mn-lt"/>
                </a:rPr>
                <a:t>X</a:t>
              </a:r>
              <a:r>
                <a:rPr lang="en-US" sz="1600" b="1" baseline="-25000" dirty="0">
                  <a:latin typeface="+mn-lt"/>
                </a:rPr>
                <a:t>2</a:t>
              </a:r>
              <a:r>
                <a:rPr lang="en-US" sz="1600" b="1" dirty="0">
                  <a:latin typeface="+mn-lt"/>
                </a:rPr>
                <a:t>)</a:t>
              </a:r>
              <a:r>
                <a:rPr lang="en-US" sz="1600" b="1" i="1" dirty="0">
                  <a:latin typeface="+mn-lt"/>
                </a:rPr>
                <a:t>	This Week</a:t>
              </a:r>
            </a:p>
          </p:txBody>
        </p:sp>
        <p:sp>
          <p:nvSpPr>
            <p:cNvPr id="16" name="Rectangle 15">
              <a:extLst>
                <a:ext uri="{FF2B5EF4-FFF2-40B4-BE49-F238E27FC236}">
                  <a16:creationId xmlns:a16="http://schemas.microsoft.com/office/drawing/2014/main" id="{59644C95-B23A-9C24-F00D-D6B49D0520F4}"/>
                </a:ext>
              </a:extLst>
            </p:cNvPr>
            <p:cNvSpPr>
              <a:spLocks noChangeArrowheads="1"/>
            </p:cNvSpPr>
            <p:nvPr/>
          </p:nvSpPr>
          <p:spPr bwMode="auto">
            <a:xfrm>
              <a:off x="2121" y="1147"/>
              <a:ext cx="938" cy="337"/>
            </a:xfrm>
            <a:prstGeom prst="rect">
              <a:avLst/>
            </a:prstGeom>
            <a:noFill/>
            <a:ln w="9525">
              <a:noFill/>
              <a:miter lim="800000"/>
              <a:headEnd/>
              <a:tailEnd/>
            </a:ln>
            <a:effectLst/>
          </p:spPr>
          <p:txBody>
            <a:bodyPr wrap="none">
              <a:spAutoFit/>
            </a:bodyPr>
            <a:lstStyle/>
            <a:p>
              <a:pPr algn="ctr">
                <a:lnSpc>
                  <a:spcPct val="90000"/>
                </a:lnSpc>
                <a:defRPr/>
              </a:pPr>
              <a:r>
                <a:rPr lang="en-US" sz="1600" b="1" i="1" dirty="0">
                  <a:latin typeface="+mn-lt"/>
                </a:rPr>
                <a:t>Hours Required </a:t>
              </a:r>
            </a:p>
            <a:p>
              <a:pPr algn="ctr">
                <a:lnSpc>
                  <a:spcPct val="90000"/>
                </a:lnSpc>
                <a:defRPr/>
              </a:pPr>
              <a:r>
                <a:rPr lang="en-US" sz="1600" b="1" i="1" dirty="0">
                  <a:latin typeface="+mn-lt"/>
                </a:rPr>
                <a:t>to Produce 1 Unit</a:t>
              </a:r>
            </a:p>
          </p:txBody>
        </p:sp>
        <p:sp>
          <p:nvSpPr>
            <p:cNvPr id="17" name="Rectangle 16">
              <a:extLst>
                <a:ext uri="{FF2B5EF4-FFF2-40B4-BE49-F238E27FC236}">
                  <a16:creationId xmlns:a16="http://schemas.microsoft.com/office/drawing/2014/main" id="{06B3FA4A-E1B4-9D9F-3006-B67895F3B742}"/>
                </a:ext>
              </a:extLst>
            </p:cNvPr>
            <p:cNvSpPr>
              <a:spLocks noChangeArrowheads="1"/>
            </p:cNvSpPr>
            <p:nvPr/>
          </p:nvSpPr>
          <p:spPr bwMode="auto">
            <a:xfrm>
              <a:off x="359" y="2160"/>
              <a:ext cx="4596" cy="621"/>
            </a:xfrm>
            <a:prstGeom prst="rect">
              <a:avLst/>
            </a:prstGeom>
            <a:noFill/>
            <a:ln w="9525">
              <a:noFill/>
              <a:miter lim="800000"/>
              <a:headEnd/>
              <a:tailEnd/>
            </a:ln>
            <a:effectLst/>
          </p:spPr>
          <p:txBody>
            <a:bodyPr>
              <a:spAutoFit/>
            </a:bodyPr>
            <a:lstStyle/>
            <a:p>
              <a:pPr>
                <a:lnSpc>
                  <a:spcPct val="125000"/>
                </a:lnSpc>
                <a:tabLst>
                  <a:tab pos="2857500" algn="r"/>
                  <a:tab pos="4572000" algn="r"/>
                  <a:tab pos="6858000" algn="r"/>
                </a:tabLst>
                <a:defRPr/>
              </a:pPr>
              <a:r>
                <a:rPr lang="en-US" sz="1600" b="1" i="1" dirty="0">
                  <a:latin typeface="+mn-lt"/>
                </a:rPr>
                <a:t>Electronic	</a:t>
              </a:r>
              <a:r>
                <a:rPr lang="en-US" sz="1600" b="1" dirty="0">
                  <a:latin typeface="+mn-lt"/>
                </a:rPr>
                <a:t>4	3	240</a:t>
              </a:r>
            </a:p>
            <a:p>
              <a:pPr>
                <a:lnSpc>
                  <a:spcPct val="125000"/>
                </a:lnSpc>
                <a:tabLst>
                  <a:tab pos="2857500" algn="r"/>
                  <a:tab pos="4572000" algn="r"/>
                  <a:tab pos="6858000" algn="r"/>
                </a:tabLst>
                <a:defRPr/>
              </a:pPr>
              <a:r>
                <a:rPr lang="en-US" sz="1600" b="1" i="1" dirty="0">
                  <a:latin typeface="+mn-lt"/>
                </a:rPr>
                <a:t>Assembly	</a:t>
              </a:r>
              <a:r>
                <a:rPr lang="en-US" sz="1600" b="1" dirty="0">
                  <a:latin typeface="+mn-lt"/>
                </a:rPr>
                <a:t>2	1	100</a:t>
              </a:r>
              <a:endParaRPr lang="en-US" sz="1600" b="1" i="1" dirty="0">
                <a:latin typeface="+mn-lt"/>
              </a:endParaRPr>
            </a:p>
            <a:p>
              <a:pPr>
                <a:lnSpc>
                  <a:spcPct val="125000"/>
                </a:lnSpc>
                <a:tabLst>
                  <a:tab pos="2857500" algn="r"/>
                  <a:tab pos="4572000" algn="r"/>
                  <a:tab pos="6858000" algn="r"/>
                </a:tabLst>
                <a:defRPr/>
              </a:pPr>
              <a:r>
                <a:rPr lang="en-US" sz="1600" b="1" i="1" dirty="0">
                  <a:latin typeface="+mn-lt"/>
                </a:rPr>
                <a:t>Profit per unit	</a:t>
              </a:r>
              <a:r>
                <a:rPr lang="en-US" sz="1600" b="1" dirty="0">
                  <a:latin typeface="+mn-lt"/>
                </a:rPr>
                <a:t>$7	$5</a:t>
              </a:r>
              <a:endParaRPr lang="en-US" sz="1600" b="1" i="1" dirty="0">
                <a:latin typeface="+mn-lt"/>
              </a:endParaRPr>
            </a:p>
          </p:txBody>
        </p:sp>
        <p:sp>
          <p:nvSpPr>
            <p:cNvPr id="18" name="Line 7">
              <a:extLst>
                <a:ext uri="{FF2B5EF4-FFF2-40B4-BE49-F238E27FC236}">
                  <a16:creationId xmlns:a16="http://schemas.microsoft.com/office/drawing/2014/main" id="{502D1935-4CA0-1C41-B62F-3A4C8D5FD61F}"/>
                </a:ext>
              </a:extLst>
            </p:cNvPr>
            <p:cNvSpPr>
              <a:spLocks noChangeShapeType="1"/>
            </p:cNvSpPr>
            <p:nvPr/>
          </p:nvSpPr>
          <p:spPr bwMode="auto">
            <a:xfrm>
              <a:off x="372" y="2200"/>
              <a:ext cx="5016" cy="0"/>
            </a:xfrm>
            <a:prstGeom prst="line">
              <a:avLst/>
            </a:prstGeom>
            <a:noFill/>
            <a:ln w="28575">
              <a:solidFill>
                <a:schemeClr val="tx1"/>
              </a:solidFill>
              <a:round/>
              <a:headEnd/>
              <a:tailEnd/>
            </a:ln>
            <a:effectLst/>
          </p:spPr>
          <p:txBody>
            <a:bodyPr wrap="none" anchor="ctr"/>
            <a:lstStyle/>
            <a:p>
              <a:pPr>
                <a:defRPr/>
              </a:pPr>
              <a:endParaRPr lang="en-GB" sz="1600">
                <a:latin typeface="+mn-lt"/>
              </a:endParaRPr>
            </a:p>
          </p:txBody>
        </p:sp>
        <p:sp>
          <p:nvSpPr>
            <p:cNvPr id="19" name="Line 8">
              <a:extLst>
                <a:ext uri="{FF2B5EF4-FFF2-40B4-BE49-F238E27FC236}">
                  <a16:creationId xmlns:a16="http://schemas.microsoft.com/office/drawing/2014/main" id="{D3F66C30-F702-51A5-BBCC-B7744FC3280A}"/>
                </a:ext>
              </a:extLst>
            </p:cNvPr>
            <p:cNvSpPr>
              <a:spLocks noChangeShapeType="1"/>
            </p:cNvSpPr>
            <p:nvPr/>
          </p:nvSpPr>
          <p:spPr bwMode="auto">
            <a:xfrm>
              <a:off x="372" y="1112"/>
              <a:ext cx="5016" cy="0"/>
            </a:xfrm>
            <a:prstGeom prst="line">
              <a:avLst/>
            </a:prstGeom>
            <a:noFill/>
            <a:ln w="38100">
              <a:solidFill>
                <a:schemeClr val="tx1"/>
              </a:solidFill>
              <a:round/>
              <a:headEnd/>
              <a:tailEnd/>
            </a:ln>
            <a:effectLst/>
          </p:spPr>
          <p:txBody>
            <a:bodyPr wrap="none" anchor="ctr"/>
            <a:lstStyle/>
            <a:p>
              <a:pPr>
                <a:defRPr/>
              </a:pPr>
              <a:endParaRPr lang="en-GB" sz="1600">
                <a:latin typeface="+mn-lt"/>
              </a:endParaRPr>
            </a:p>
          </p:txBody>
        </p:sp>
        <p:sp>
          <p:nvSpPr>
            <p:cNvPr id="20" name="Line 9">
              <a:extLst>
                <a:ext uri="{FF2B5EF4-FFF2-40B4-BE49-F238E27FC236}">
                  <a16:creationId xmlns:a16="http://schemas.microsoft.com/office/drawing/2014/main" id="{261F0C66-0F11-D216-CAB3-3F0382B467D8}"/>
                </a:ext>
              </a:extLst>
            </p:cNvPr>
            <p:cNvSpPr>
              <a:spLocks noChangeShapeType="1"/>
            </p:cNvSpPr>
            <p:nvPr/>
          </p:nvSpPr>
          <p:spPr bwMode="auto">
            <a:xfrm>
              <a:off x="372" y="3096"/>
              <a:ext cx="5016" cy="0"/>
            </a:xfrm>
            <a:prstGeom prst="line">
              <a:avLst/>
            </a:prstGeom>
            <a:noFill/>
            <a:ln w="38100">
              <a:solidFill>
                <a:schemeClr val="tx1"/>
              </a:solidFill>
              <a:round/>
              <a:headEnd/>
              <a:tailEnd/>
            </a:ln>
            <a:effectLst/>
          </p:spPr>
          <p:txBody>
            <a:bodyPr wrap="none" anchor="ctr"/>
            <a:lstStyle/>
            <a:p>
              <a:pPr>
                <a:defRPr/>
              </a:pPr>
              <a:endParaRPr lang="en-GB" sz="1600">
                <a:latin typeface="+mn-lt"/>
              </a:endParaRPr>
            </a:p>
          </p:txBody>
        </p:sp>
        <p:sp>
          <p:nvSpPr>
            <p:cNvPr id="21" name="Line 10">
              <a:extLst>
                <a:ext uri="{FF2B5EF4-FFF2-40B4-BE49-F238E27FC236}">
                  <a16:creationId xmlns:a16="http://schemas.microsoft.com/office/drawing/2014/main" id="{7614EBDC-E05D-8D02-E9A3-24FA365B3C06}"/>
                </a:ext>
              </a:extLst>
            </p:cNvPr>
            <p:cNvSpPr>
              <a:spLocks noChangeShapeType="1"/>
            </p:cNvSpPr>
            <p:nvPr/>
          </p:nvSpPr>
          <p:spPr bwMode="auto">
            <a:xfrm>
              <a:off x="1576" y="1632"/>
              <a:ext cx="2192" cy="0"/>
            </a:xfrm>
            <a:prstGeom prst="line">
              <a:avLst/>
            </a:prstGeom>
            <a:noFill/>
            <a:ln w="28575">
              <a:solidFill>
                <a:schemeClr val="tx1"/>
              </a:solidFill>
              <a:round/>
              <a:headEnd/>
              <a:tailEnd/>
            </a:ln>
            <a:effectLst/>
          </p:spPr>
          <p:txBody>
            <a:bodyPr wrap="none" anchor="ctr"/>
            <a:lstStyle/>
            <a:p>
              <a:pPr>
                <a:defRPr/>
              </a:pPr>
              <a:endParaRPr lang="en-GB" sz="1600">
                <a:latin typeface="+mn-lt"/>
              </a:endParaRPr>
            </a:p>
          </p:txBody>
        </p:sp>
      </p:grpSp>
      <p:sp>
        <p:nvSpPr>
          <p:cNvPr id="22" name="Rectangle 11">
            <a:extLst>
              <a:ext uri="{FF2B5EF4-FFF2-40B4-BE49-F238E27FC236}">
                <a16:creationId xmlns:a16="http://schemas.microsoft.com/office/drawing/2014/main" id="{1955B4B5-6946-06C8-DBC8-81EF89EF89A5}"/>
              </a:ext>
            </a:extLst>
          </p:cNvPr>
          <p:cNvSpPr>
            <a:spLocks noChangeArrowheads="1"/>
          </p:cNvSpPr>
          <p:nvPr/>
        </p:nvSpPr>
        <p:spPr bwMode="auto">
          <a:xfrm>
            <a:off x="40261" y="3675924"/>
            <a:ext cx="6256408" cy="1015663"/>
          </a:xfrm>
          <a:prstGeom prst="rect">
            <a:avLst/>
          </a:prstGeom>
          <a:noFill/>
          <a:ln w="9525">
            <a:solidFill>
              <a:schemeClr val="accent1"/>
            </a:solidFill>
            <a:miter lim="800000"/>
            <a:headEnd/>
            <a:tailEnd/>
          </a:ln>
          <a:effectLst/>
        </p:spPr>
        <p:txBody>
          <a:bodyPr wrap="square">
            <a:spAutoFit/>
          </a:bodyPr>
          <a:lstStyle/>
          <a:p>
            <a:pPr>
              <a:tabLst>
                <a:tab pos="1333500" algn="r"/>
                <a:tab pos="1524000" algn="l"/>
              </a:tabLst>
              <a:defRPr/>
            </a:pPr>
            <a:r>
              <a:rPr lang="en-US" sz="2000" b="1" i="1" dirty="0">
                <a:latin typeface="+mn-lt"/>
              </a:rPr>
              <a:t>Decision Variables:</a:t>
            </a:r>
          </a:p>
          <a:p>
            <a:pPr lvl="1">
              <a:tabLst>
                <a:tab pos="1333500" algn="r"/>
                <a:tab pos="1524000" algn="l"/>
              </a:tabLst>
              <a:defRPr/>
            </a:pPr>
            <a:r>
              <a:rPr lang="en-US" sz="2000" b="1" i="1" dirty="0">
                <a:latin typeface="+mn-lt"/>
              </a:rPr>
              <a:t>X</a:t>
            </a:r>
            <a:r>
              <a:rPr lang="en-US" sz="2000" b="1" baseline="-25000" dirty="0">
                <a:latin typeface="+mn-lt"/>
              </a:rPr>
              <a:t>1</a:t>
            </a:r>
            <a:r>
              <a:rPr lang="en-US" sz="2000" b="1" i="1" dirty="0">
                <a:latin typeface="+mn-lt"/>
              </a:rPr>
              <a:t>	= number of DVD Players to be produced</a:t>
            </a:r>
          </a:p>
          <a:p>
            <a:pPr lvl="1">
              <a:tabLst>
                <a:tab pos="1333500" algn="r"/>
                <a:tab pos="1524000" algn="l"/>
              </a:tabLst>
              <a:defRPr/>
            </a:pPr>
            <a:r>
              <a:rPr lang="en-US" sz="2000" b="1" i="1" dirty="0">
                <a:latin typeface="+mn-lt"/>
              </a:rPr>
              <a:t>X</a:t>
            </a:r>
            <a:r>
              <a:rPr lang="en-US" sz="2000" b="1" baseline="-25000" dirty="0">
                <a:latin typeface="+mn-lt"/>
              </a:rPr>
              <a:t>2</a:t>
            </a:r>
            <a:r>
              <a:rPr lang="en-US" sz="2000" b="1" i="1" dirty="0">
                <a:latin typeface="+mn-lt"/>
              </a:rPr>
              <a:t>	= number of Mobile Phones to be produced</a:t>
            </a:r>
          </a:p>
        </p:txBody>
      </p:sp>
      <p:sp>
        <p:nvSpPr>
          <p:cNvPr id="23" name="Rectangle 11">
            <a:extLst>
              <a:ext uri="{FF2B5EF4-FFF2-40B4-BE49-F238E27FC236}">
                <a16:creationId xmlns:a16="http://schemas.microsoft.com/office/drawing/2014/main" id="{8B80AFAD-C4BA-DF4F-3059-153EF5CCEC69}"/>
              </a:ext>
            </a:extLst>
          </p:cNvPr>
          <p:cNvSpPr>
            <a:spLocks noChangeArrowheads="1"/>
          </p:cNvSpPr>
          <p:nvPr/>
        </p:nvSpPr>
        <p:spPr bwMode="auto">
          <a:xfrm>
            <a:off x="6435530" y="3829812"/>
            <a:ext cx="5694561" cy="707886"/>
          </a:xfrm>
          <a:prstGeom prst="rect">
            <a:avLst/>
          </a:prstGeom>
          <a:noFill/>
          <a:ln w="9525">
            <a:solidFill>
              <a:schemeClr val="accent1"/>
            </a:solidFill>
            <a:miter lim="800000"/>
            <a:headEnd/>
            <a:tailEnd/>
          </a:ln>
          <a:effectLst/>
        </p:spPr>
        <p:txBody>
          <a:bodyPr wrap="square">
            <a:spAutoFit/>
          </a:bodyPr>
          <a:lstStyle/>
          <a:p>
            <a:pPr>
              <a:tabLst>
                <a:tab pos="1333500" algn="r"/>
                <a:tab pos="1524000" algn="l"/>
              </a:tabLst>
              <a:defRPr/>
            </a:pPr>
            <a:r>
              <a:rPr lang="en-US" sz="2000" b="1" i="1" dirty="0">
                <a:latin typeface="+mn-lt"/>
              </a:rPr>
              <a:t>Objectiv</a:t>
            </a:r>
            <a:r>
              <a:rPr lang="en-US" sz="2000" b="1" i="1" dirty="0"/>
              <a:t>e Function:</a:t>
            </a:r>
          </a:p>
          <a:p>
            <a:pPr lvl="1">
              <a:tabLst>
                <a:tab pos="1333500" algn="r"/>
                <a:tab pos="1524000" algn="l"/>
              </a:tabLst>
              <a:defRPr/>
            </a:pPr>
            <a:r>
              <a:rPr lang="en-GB" sz="2000" dirty="0"/>
              <a:t>Maximize Z = $7</a:t>
            </a:r>
            <a:r>
              <a:rPr lang="en-US" sz="2000" b="1" i="1" dirty="0"/>
              <a:t> X</a:t>
            </a:r>
            <a:r>
              <a:rPr lang="en-US" sz="2000" b="1" baseline="-25000" dirty="0"/>
              <a:t>1</a:t>
            </a:r>
            <a:r>
              <a:rPr lang="en-GB" sz="2000" dirty="0"/>
              <a:t> + $5</a:t>
            </a:r>
            <a:r>
              <a:rPr lang="en-US" sz="2000" b="1" i="1" dirty="0"/>
              <a:t> X</a:t>
            </a:r>
            <a:r>
              <a:rPr lang="en-US" sz="2000" b="1" baseline="-25000" dirty="0"/>
              <a:t>2</a:t>
            </a:r>
            <a:endParaRPr lang="en-US" sz="2000" b="1" i="1" dirty="0">
              <a:latin typeface="+mn-lt"/>
            </a:endParaRPr>
          </a:p>
        </p:txBody>
      </p:sp>
      <mc:AlternateContent xmlns:mc="http://schemas.openxmlformats.org/markup-compatibility/2006" xmlns:a14="http://schemas.microsoft.com/office/drawing/2010/main">
        <mc:Choice Requires="a14">
          <p:sp>
            <p:nvSpPr>
              <p:cNvPr id="24" name="Rectangle 11">
                <a:extLst>
                  <a:ext uri="{FF2B5EF4-FFF2-40B4-BE49-F238E27FC236}">
                    <a16:creationId xmlns:a16="http://schemas.microsoft.com/office/drawing/2014/main" id="{9A393F12-5479-4D4F-A44B-0D5E379F53D3}"/>
                  </a:ext>
                </a:extLst>
              </p:cNvPr>
              <p:cNvSpPr>
                <a:spLocks noChangeArrowheads="1"/>
              </p:cNvSpPr>
              <p:nvPr/>
            </p:nvSpPr>
            <p:spPr bwMode="auto">
              <a:xfrm>
                <a:off x="329693" y="5117485"/>
                <a:ext cx="11532614" cy="1323439"/>
              </a:xfrm>
              <a:prstGeom prst="rect">
                <a:avLst/>
              </a:prstGeom>
              <a:noFill/>
              <a:ln w="9525">
                <a:solidFill>
                  <a:schemeClr val="accent1"/>
                </a:solidFill>
                <a:miter lim="800000"/>
                <a:headEnd/>
                <a:tailEnd/>
              </a:ln>
              <a:effectLst/>
            </p:spPr>
            <p:txBody>
              <a:bodyPr wrap="square">
                <a:spAutoFit/>
              </a:bodyPr>
              <a:lstStyle/>
              <a:p>
                <a:pPr>
                  <a:tabLst>
                    <a:tab pos="1333500" algn="r"/>
                    <a:tab pos="1524000" algn="l"/>
                  </a:tabLst>
                  <a:defRPr/>
                </a:pPr>
                <a:r>
                  <a:rPr lang="en-US" sz="2000" b="1" i="1" dirty="0"/>
                  <a:t>Constraints:</a:t>
                </a:r>
              </a:p>
              <a:p>
                <a:pPr lvl="1">
                  <a:buFont typeface="Arial" panose="020B0604020202020204" pitchFamily="34" charset="0"/>
                  <a:buNone/>
                </a:pPr>
                <a:r>
                  <a:rPr lang="en-GB" altLang="en-US" sz="2000" b="1" i="1" dirty="0"/>
                  <a:t>4 X</a:t>
                </a:r>
                <a:r>
                  <a:rPr lang="en-GB" altLang="en-US" sz="2000" b="1" i="1" baseline="-25000" dirty="0"/>
                  <a:t>1</a:t>
                </a:r>
                <a:r>
                  <a:rPr lang="en-GB" altLang="en-US" sz="2000" b="1" i="1" dirty="0"/>
                  <a:t> + 3 X</a:t>
                </a:r>
                <a:r>
                  <a:rPr lang="en-GB" altLang="en-US" sz="2000" b="1" i="1" baseline="-25000" dirty="0"/>
                  <a:t>2</a:t>
                </a:r>
                <a:r>
                  <a:rPr lang="en-GB" altLang="en-US" sz="2000" b="1" i="1" dirty="0"/>
                  <a:t>  ≤ 240  (hours of electronic time)</a:t>
                </a:r>
              </a:p>
              <a:p>
                <a:pPr lvl="1">
                  <a:tabLst>
                    <a:tab pos="1333500" algn="r"/>
                    <a:tab pos="1524000" algn="l"/>
                  </a:tabLst>
                  <a:defRPr/>
                </a:pPr>
                <a:r>
                  <a:rPr lang="en-GB" altLang="en-US" sz="2000" b="1" i="1" dirty="0"/>
                  <a:t>2 X</a:t>
                </a:r>
                <a:r>
                  <a:rPr lang="en-GB" altLang="en-US" sz="2000" b="1" i="1" baseline="-25000" dirty="0"/>
                  <a:t>1</a:t>
                </a:r>
                <a:r>
                  <a:rPr lang="en-GB" altLang="en-US" sz="2000" b="1" i="1" dirty="0"/>
                  <a:t> + 1 X</a:t>
                </a:r>
                <a:r>
                  <a:rPr lang="en-GB" altLang="en-US" sz="2000" b="1" i="1" baseline="-25000" dirty="0"/>
                  <a:t>2</a:t>
                </a:r>
                <a:r>
                  <a:rPr lang="en-GB" altLang="en-US" sz="2000" b="1" i="1" dirty="0"/>
                  <a:t>  ≤ 100  (hours of assembly time)</a:t>
                </a:r>
              </a:p>
              <a:p>
                <a:pPr lvl="1">
                  <a:tabLst>
                    <a:tab pos="1333500" algn="r"/>
                    <a:tab pos="1524000" algn="l"/>
                  </a:tabLst>
                  <a:defRPr/>
                </a:pP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𝟏</m:t>
                        </m:r>
                      </m:sub>
                    </m:sSub>
                  </m:oMath>
                </a14:m>
                <a:r>
                  <a:rPr lang="en-GB" altLang="en-US" sz="2000" b="1" dirty="0"/>
                  <a:t> </a:t>
                </a:r>
                <a:r>
                  <a:rPr lang="en-GB" altLang="en-US" sz="2000" b="1" dirty="0">
                    <a:sym typeface="Symbol" pitchFamily="18" charset="2"/>
                  </a:rPr>
                  <a:t> 0; </a:t>
                </a:r>
                <a14:m>
                  <m:oMath xmlns:m="http://schemas.openxmlformats.org/officeDocument/2006/math">
                    <m:sSub>
                      <m:sSubPr>
                        <m:ctrlPr>
                          <a:rPr lang="en-GB" altLang="en-US" sz="2000" b="1" i="1" dirty="0">
                            <a:latin typeface="Cambria Math" panose="02040503050406030204" pitchFamily="18" charset="0"/>
                          </a:rPr>
                        </m:ctrlPr>
                      </m:sSubPr>
                      <m:e>
                        <m:r>
                          <a:rPr lang="en-US" altLang="en-US" sz="2000" b="1" i="1" dirty="0">
                            <a:latin typeface="Cambria Math" panose="02040503050406030204" pitchFamily="18" charset="0"/>
                          </a:rPr>
                          <m:t>𝒙</m:t>
                        </m:r>
                      </m:e>
                      <m:sub>
                        <m:r>
                          <a:rPr lang="en-US" altLang="en-US" sz="2000" b="1" i="1" dirty="0">
                            <a:latin typeface="Cambria Math" panose="02040503050406030204" pitchFamily="18" charset="0"/>
                          </a:rPr>
                          <m:t>𝟐</m:t>
                        </m:r>
                      </m:sub>
                    </m:sSub>
                  </m:oMath>
                </a14:m>
                <a:r>
                  <a:rPr lang="en-GB" altLang="en-US" sz="2000" b="1" dirty="0"/>
                  <a:t> </a:t>
                </a:r>
                <a:r>
                  <a:rPr lang="en-GB" altLang="en-US" sz="2000" b="1" dirty="0">
                    <a:sym typeface="Symbol" pitchFamily="18" charset="2"/>
                  </a:rPr>
                  <a:t> 0 	    (Non-negativity constraint)</a:t>
                </a:r>
              </a:p>
            </p:txBody>
          </p:sp>
        </mc:Choice>
        <mc:Fallback xmlns="">
          <p:sp>
            <p:nvSpPr>
              <p:cNvPr id="24" name="Rectangle 11">
                <a:extLst>
                  <a:ext uri="{FF2B5EF4-FFF2-40B4-BE49-F238E27FC236}">
                    <a16:creationId xmlns:a16="http://schemas.microsoft.com/office/drawing/2014/main" id="{9A393F12-5479-4D4F-A44B-0D5E379F53D3}"/>
                  </a:ext>
                </a:extLst>
              </p:cNvPr>
              <p:cNvSpPr>
                <a:spLocks noRot="1" noChangeAspect="1" noMove="1" noResize="1" noEditPoints="1" noAdjustHandles="1" noChangeArrowheads="1" noChangeShapeType="1" noTextEdit="1"/>
              </p:cNvSpPr>
              <p:nvPr/>
            </p:nvSpPr>
            <p:spPr bwMode="auto">
              <a:xfrm>
                <a:off x="329693" y="5117485"/>
                <a:ext cx="11532614" cy="1323439"/>
              </a:xfrm>
              <a:prstGeom prst="rect">
                <a:avLst/>
              </a:prstGeom>
              <a:blipFill>
                <a:blip r:embed="rId2"/>
                <a:stretch>
                  <a:fillRect l="-475" t="-1818" b="-6364"/>
                </a:stretch>
              </a:blipFill>
              <a:ln w="9525">
                <a:solidFill>
                  <a:schemeClr val="accent1"/>
                </a:solidFill>
                <a:miter lim="800000"/>
                <a:headEnd/>
                <a:tailEnd/>
              </a:ln>
              <a:effectLst/>
            </p:spPr>
            <p:txBody>
              <a:bodyPr/>
              <a:lstStyle/>
              <a:p>
                <a:r>
                  <a:rPr lang="en-US">
                    <a:noFill/>
                  </a:rPr>
                  <a:t> </a:t>
                </a:r>
              </a:p>
            </p:txBody>
          </p:sp>
        </mc:Fallback>
      </mc:AlternateContent>
    </p:spTree>
    <p:extLst>
      <p:ext uri="{BB962C8B-B14F-4D97-AF65-F5344CB8AC3E}">
        <p14:creationId xmlns:p14="http://schemas.microsoft.com/office/powerpoint/2010/main" val="1752031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P spid="23" grpId="0" animBg="1" autoUpdateAnimBg="0"/>
      <p:bldP spid="24"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6553-21CC-6DA7-948B-2AD07BFD013A}"/>
              </a:ext>
            </a:extLst>
          </p:cNvPr>
          <p:cNvSpPr>
            <a:spLocks noGrp="1"/>
          </p:cNvSpPr>
          <p:nvPr>
            <p:ph type="title"/>
          </p:nvPr>
        </p:nvSpPr>
        <p:spPr>
          <a:xfrm>
            <a:off x="913795" y="195818"/>
            <a:ext cx="10353761" cy="1326321"/>
          </a:xfrm>
        </p:spPr>
        <p:txBody>
          <a:bodyPr/>
          <a:lstStyle/>
          <a:p>
            <a:r>
              <a:rPr lang="en-GB" altLang="en-US" dirty="0"/>
              <a:t>Daily Flights (example 3)</a:t>
            </a:r>
            <a:endParaRPr lang="en-US" dirty="0"/>
          </a:p>
        </p:txBody>
      </p:sp>
      <p:sp>
        <p:nvSpPr>
          <p:cNvPr id="3" name="Content Placeholder 2">
            <a:extLst>
              <a:ext uri="{FF2B5EF4-FFF2-40B4-BE49-F238E27FC236}">
                <a16:creationId xmlns:a16="http://schemas.microsoft.com/office/drawing/2014/main" id="{5FC071E9-4714-5D16-7383-4F406ED7282E}"/>
              </a:ext>
            </a:extLst>
          </p:cNvPr>
          <p:cNvSpPr>
            <a:spLocks noGrp="1"/>
          </p:cNvSpPr>
          <p:nvPr>
            <p:ph idx="1"/>
          </p:nvPr>
        </p:nvSpPr>
        <p:spPr>
          <a:xfrm>
            <a:off x="13851" y="1787246"/>
            <a:ext cx="12053458" cy="4971921"/>
          </a:xfrm>
        </p:spPr>
        <p:txBody>
          <a:bodyPr>
            <a:normAutofit fontScale="92500"/>
          </a:bodyPr>
          <a:lstStyle/>
          <a:p>
            <a:r>
              <a:rPr lang="en-GB" altLang="en-US" dirty="0"/>
              <a:t>A local Airline Company is considering air service from its hub of operations in the US to Rome, and Dublin.</a:t>
            </a:r>
          </a:p>
          <a:p>
            <a:endParaRPr lang="en-GB" altLang="en-US" sz="100" dirty="0"/>
          </a:p>
          <a:p>
            <a:r>
              <a:rPr lang="en-GB" altLang="en-US" dirty="0"/>
              <a:t>They have one gate at the US Airport, which operates 12 hours per day. Each flight requires 1 hour of gate time. </a:t>
            </a:r>
          </a:p>
          <a:p>
            <a:endParaRPr lang="en-GB" altLang="en-US" sz="100" dirty="0"/>
          </a:p>
          <a:p>
            <a:r>
              <a:rPr lang="en-GB" altLang="en-US" dirty="0"/>
              <a:t>Each flight to Rome consumes 15 hours of pilot crew time and is expected to produce a profit of $2,500. </a:t>
            </a:r>
          </a:p>
          <a:p>
            <a:endParaRPr lang="en-GB" altLang="en-US" sz="100" dirty="0"/>
          </a:p>
          <a:p>
            <a:r>
              <a:rPr lang="en-GB" altLang="en-US" dirty="0"/>
              <a:t>Serving Dublin uses 10 hours of pilot crew time per flight and will result in a profit of $2,000 per flight. </a:t>
            </a:r>
          </a:p>
          <a:p>
            <a:endParaRPr lang="en-GB" altLang="en-US" sz="100" dirty="0"/>
          </a:p>
          <a:p>
            <a:r>
              <a:rPr lang="en-GB" altLang="en-US" dirty="0"/>
              <a:t>Pilot crew labour is limited to 150 hours per day. </a:t>
            </a:r>
          </a:p>
          <a:p>
            <a:endParaRPr lang="en-GB" altLang="en-US" sz="100" dirty="0"/>
          </a:p>
          <a:p>
            <a:r>
              <a:rPr lang="en-GB" altLang="en-US" dirty="0"/>
              <a:t>The market for service to Rome is limited to 9 flights per day.</a:t>
            </a:r>
          </a:p>
          <a:p>
            <a:endParaRPr lang="en-GB" altLang="en-US" sz="100" dirty="0"/>
          </a:p>
          <a:p>
            <a:r>
              <a:rPr lang="en-GB" altLang="en-US" sz="2200" b="1" dirty="0"/>
              <a:t>Determine the number of daily flights to Rome and Dublin to maximize total profit.</a:t>
            </a:r>
          </a:p>
        </p:txBody>
      </p:sp>
      <p:pic>
        <p:nvPicPr>
          <p:cNvPr id="4" name="Picture 2" descr="Image result for airplanes at the gate">
            <a:extLst>
              <a:ext uri="{FF2B5EF4-FFF2-40B4-BE49-F238E27FC236}">
                <a16:creationId xmlns:a16="http://schemas.microsoft.com/office/drawing/2014/main" id="{AB1104C6-6E7A-E510-DA86-46DEB8B51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696"/>
            <a:ext cx="2452255" cy="1662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654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fade">
                                      <p:cBhvr>
                                        <p:cTn id="3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29B6-3DD5-8214-6C96-B616773E3A39}"/>
              </a:ext>
            </a:extLst>
          </p:cNvPr>
          <p:cNvSpPr>
            <a:spLocks noGrp="1"/>
          </p:cNvSpPr>
          <p:nvPr>
            <p:ph type="title"/>
          </p:nvPr>
        </p:nvSpPr>
        <p:spPr/>
        <p:txBody>
          <a:bodyPr/>
          <a:lstStyle/>
          <a:p>
            <a:r>
              <a:rPr lang="en-US" dirty="0"/>
              <a:t>LP Model Formulation</a:t>
            </a:r>
          </a:p>
        </p:txBody>
      </p:sp>
      <p:sp>
        <p:nvSpPr>
          <p:cNvPr id="3" name="Content Placeholder 2">
            <a:extLst>
              <a:ext uri="{FF2B5EF4-FFF2-40B4-BE49-F238E27FC236}">
                <a16:creationId xmlns:a16="http://schemas.microsoft.com/office/drawing/2014/main" id="{08499824-04F3-A49C-74DF-AFB56C2D7102}"/>
              </a:ext>
            </a:extLst>
          </p:cNvPr>
          <p:cNvSpPr>
            <a:spLocks noGrp="1"/>
          </p:cNvSpPr>
          <p:nvPr>
            <p:ph idx="1"/>
          </p:nvPr>
        </p:nvSpPr>
        <p:spPr>
          <a:xfrm>
            <a:off x="913795" y="2096064"/>
            <a:ext cx="10353762" cy="4567972"/>
          </a:xfrm>
        </p:spPr>
        <p:txBody>
          <a:bodyPr>
            <a:noAutofit/>
          </a:bodyPr>
          <a:lstStyle/>
          <a:p>
            <a:r>
              <a:rPr lang="en-GB" altLang="en-US" dirty="0"/>
              <a:t>Decision Variables</a:t>
            </a:r>
          </a:p>
          <a:p>
            <a:pPr lvl="1"/>
            <a:r>
              <a:rPr lang="en-GB" altLang="en-US" sz="2000" dirty="0"/>
              <a:t>	</a:t>
            </a:r>
            <a:r>
              <a:rPr lang="en-US" sz="2000" b="1" i="1" dirty="0">
                <a:latin typeface="+mn-lt"/>
              </a:rPr>
              <a:t>X</a:t>
            </a:r>
            <a:r>
              <a:rPr lang="en-US" sz="2000" b="1" baseline="-25000" dirty="0">
                <a:latin typeface="+mn-lt"/>
              </a:rPr>
              <a:t>1</a:t>
            </a:r>
            <a:r>
              <a:rPr lang="en-US" sz="2000" b="1" i="1" baseline="-25000" dirty="0"/>
              <a:t>  </a:t>
            </a:r>
            <a:r>
              <a:rPr lang="en-GB" altLang="en-US" sz="2000" dirty="0"/>
              <a:t>= number of flights per day to Rome</a:t>
            </a:r>
          </a:p>
          <a:p>
            <a:pPr lvl="1"/>
            <a:r>
              <a:rPr lang="en-GB" altLang="en-US" sz="2000" dirty="0"/>
              <a:t>	</a:t>
            </a:r>
            <a:r>
              <a:rPr lang="en-US" sz="2000" b="1" i="1" dirty="0">
                <a:latin typeface="+mn-lt"/>
              </a:rPr>
              <a:t> X</a:t>
            </a:r>
            <a:r>
              <a:rPr lang="en-US" sz="2000" b="1" baseline="-25000" dirty="0">
                <a:latin typeface="+mn-lt"/>
              </a:rPr>
              <a:t>2</a:t>
            </a:r>
            <a:r>
              <a:rPr lang="en-GB" altLang="en-US" sz="2000" dirty="0"/>
              <a:t> = number of flights per day to Dublin</a:t>
            </a:r>
          </a:p>
          <a:p>
            <a:r>
              <a:rPr lang="en-GB" altLang="en-US" dirty="0"/>
              <a:t>The objective function is to maximize profits (Z)</a:t>
            </a:r>
          </a:p>
          <a:p>
            <a:pPr lvl="1"/>
            <a:r>
              <a:rPr lang="en-GB" altLang="en-US" sz="2000" dirty="0"/>
              <a:t>	Maximize Z = $2,500</a:t>
            </a:r>
            <a:r>
              <a:rPr lang="en-US" sz="2000" b="1" i="1" dirty="0">
                <a:latin typeface="+mn-lt"/>
              </a:rPr>
              <a:t> X</a:t>
            </a:r>
            <a:r>
              <a:rPr lang="en-US" sz="2000" b="1" baseline="-25000" dirty="0">
                <a:latin typeface="+mn-lt"/>
              </a:rPr>
              <a:t>1</a:t>
            </a:r>
            <a:r>
              <a:rPr lang="en-GB" altLang="en-US" sz="2000" dirty="0"/>
              <a:t> + $2,000</a:t>
            </a:r>
            <a:r>
              <a:rPr lang="en-US" sz="2000" b="1" i="1" dirty="0">
                <a:latin typeface="+mn-lt"/>
              </a:rPr>
              <a:t> X</a:t>
            </a:r>
            <a:r>
              <a:rPr lang="en-US" sz="2000" b="1" baseline="-25000" dirty="0">
                <a:latin typeface="+mn-lt"/>
              </a:rPr>
              <a:t>2</a:t>
            </a:r>
            <a:endParaRPr lang="en-GB" altLang="en-US" sz="2000" dirty="0"/>
          </a:p>
          <a:p>
            <a:r>
              <a:rPr lang="en-GB" altLang="en-US" dirty="0"/>
              <a:t>The constraints are</a:t>
            </a:r>
          </a:p>
          <a:p>
            <a:pPr lvl="1"/>
            <a:r>
              <a:rPr lang="en-GB" altLang="en-US" sz="2000" dirty="0"/>
              <a:t>	</a:t>
            </a:r>
            <a:r>
              <a:rPr lang="en-US" sz="2000" b="1" i="1" dirty="0">
                <a:latin typeface="+mn-lt"/>
              </a:rPr>
              <a:t> X</a:t>
            </a:r>
            <a:r>
              <a:rPr lang="en-US" sz="2000" b="1" baseline="-25000" dirty="0">
                <a:latin typeface="+mn-lt"/>
              </a:rPr>
              <a:t>1</a:t>
            </a:r>
            <a:r>
              <a:rPr lang="en-GB" altLang="en-US" sz="2000" dirty="0"/>
              <a:t> + </a:t>
            </a:r>
            <a:r>
              <a:rPr lang="en-US" sz="2000" b="1" i="1" dirty="0">
                <a:latin typeface="+mn-lt"/>
              </a:rPr>
              <a:t>X</a:t>
            </a:r>
            <a:r>
              <a:rPr lang="en-US" sz="2000" b="1" baseline="-25000" dirty="0">
                <a:latin typeface="+mn-lt"/>
              </a:rPr>
              <a:t>2</a:t>
            </a:r>
            <a:r>
              <a:rPr lang="en-GB" altLang="en-US" sz="2000" dirty="0"/>
              <a:t> ≤ 12 (gate capacity)</a:t>
            </a:r>
          </a:p>
          <a:p>
            <a:pPr lvl="1"/>
            <a:r>
              <a:rPr lang="en-GB" altLang="en-US" sz="2000" dirty="0"/>
              <a:t>	15</a:t>
            </a:r>
            <a:r>
              <a:rPr lang="en-US" sz="2000" b="1" i="1" dirty="0">
                <a:latin typeface="+mn-lt"/>
              </a:rPr>
              <a:t> X</a:t>
            </a:r>
            <a:r>
              <a:rPr lang="en-US" sz="2000" b="1" baseline="-25000" dirty="0">
                <a:latin typeface="+mn-lt"/>
              </a:rPr>
              <a:t>1</a:t>
            </a:r>
            <a:r>
              <a:rPr lang="en-GB" altLang="en-US" sz="2000" dirty="0"/>
              <a:t> + 10 </a:t>
            </a:r>
            <a:r>
              <a:rPr lang="en-US" sz="2000" b="1" i="1" dirty="0">
                <a:latin typeface="+mn-lt"/>
              </a:rPr>
              <a:t>X</a:t>
            </a:r>
            <a:r>
              <a:rPr lang="en-US" sz="2000" b="1" baseline="-25000" dirty="0">
                <a:latin typeface="+mn-lt"/>
              </a:rPr>
              <a:t>2</a:t>
            </a:r>
            <a:r>
              <a:rPr lang="en-GB" altLang="en-US" sz="2000" dirty="0"/>
              <a:t> ≤ 150 (labour)</a:t>
            </a:r>
          </a:p>
          <a:p>
            <a:pPr lvl="1"/>
            <a:r>
              <a:rPr lang="en-GB" altLang="en-US" sz="2000" dirty="0"/>
              <a:t>	</a:t>
            </a:r>
            <a:r>
              <a:rPr lang="en-US" sz="2000" b="1" i="1" dirty="0">
                <a:latin typeface="+mn-lt"/>
              </a:rPr>
              <a:t> X</a:t>
            </a:r>
            <a:r>
              <a:rPr lang="en-US" sz="2000" b="1" baseline="-25000" dirty="0">
                <a:latin typeface="+mn-lt"/>
              </a:rPr>
              <a:t>1</a:t>
            </a:r>
            <a:r>
              <a:rPr lang="en-GB" altLang="en-US" sz="2000" dirty="0"/>
              <a:t>  ≤ 9 (market)</a:t>
            </a:r>
          </a:p>
          <a:p>
            <a:pPr lvl="1"/>
            <a:r>
              <a:rPr lang="en-GB" altLang="en-US" sz="2000" dirty="0"/>
              <a:t>	</a:t>
            </a:r>
            <a:r>
              <a:rPr lang="en-US" sz="2000" b="1" i="1" dirty="0">
                <a:latin typeface="+mn-lt"/>
              </a:rPr>
              <a:t> X</a:t>
            </a:r>
            <a:r>
              <a:rPr lang="en-US" sz="2000" b="1" baseline="-25000" dirty="0">
                <a:latin typeface="+mn-lt"/>
              </a:rPr>
              <a:t>1</a:t>
            </a:r>
            <a:r>
              <a:rPr lang="en-GB" altLang="en-US" sz="2000" dirty="0"/>
              <a:t> ≥ 0 and </a:t>
            </a:r>
            <a:r>
              <a:rPr lang="en-US" sz="2000" b="1" i="1" dirty="0">
                <a:latin typeface="+mn-lt"/>
              </a:rPr>
              <a:t>X</a:t>
            </a:r>
            <a:r>
              <a:rPr lang="en-US" sz="2000" b="1" baseline="-25000" dirty="0">
                <a:latin typeface="+mn-lt"/>
              </a:rPr>
              <a:t>2</a:t>
            </a:r>
            <a:r>
              <a:rPr lang="en-GB" altLang="en-US" sz="2000" dirty="0"/>
              <a:t> ≥ 0</a:t>
            </a:r>
          </a:p>
        </p:txBody>
      </p:sp>
    </p:spTree>
    <p:extLst>
      <p:ext uri="{BB962C8B-B14F-4D97-AF65-F5344CB8AC3E}">
        <p14:creationId xmlns:p14="http://schemas.microsoft.com/office/powerpoint/2010/main" val="1089088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F85DC-F28B-B63F-DD29-BF733C563586}"/>
              </a:ext>
            </a:extLst>
          </p:cNvPr>
          <p:cNvSpPr>
            <a:spLocks noGrp="1"/>
          </p:cNvSpPr>
          <p:nvPr>
            <p:ph type="title"/>
          </p:nvPr>
        </p:nvSpPr>
        <p:spPr/>
        <p:txBody>
          <a:bodyPr/>
          <a:lstStyle/>
          <a:p>
            <a:r>
              <a:rPr lang="en-US" dirty="0"/>
              <a:t>A Marketing Example (example 4)</a:t>
            </a:r>
          </a:p>
        </p:txBody>
      </p:sp>
      <p:sp>
        <p:nvSpPr>
          <p:cNvPr id="3" name="Content Placeholder 2">
            <a:extLst>
              <a:ext uri="{FF2B5EF4-FFF2-40B4-BE49-F238E27FC236}">
                <a16:creationId xmlns:a16="http://schemas.microsoft.com/office/drawing/2014/main" id="{426A4D91-FC56-CFB3-124C-6904DEA11675}"/>
              </a:ext>
            </a:extLst>
          </p:cNvPr>
          <p:cNvSpPr>
            <a:spLocks noGrp="1"/>
          </p:cNvSpPr>
          <p:nvPr>
            <p:ph idx="1"/>
          </p:nvPr>
        </p:nvSpPr>
        <p:spPr>
          <a:xfrm>
            <a:off x="913795" y="1832825"/>
            <a:ext cx="10353762" cy="2656045"/>
          </a:xfrm>
        </p:spPr>
        <p:txBody>
          <a:bodyPr/>
          <a:lstStyle/>
          <a:p>
            <a:r>
              <a:rPr lang="en-US" altLang="en-US" dirty="0"/>
              <a:t>Budget limit $100,000</a:t>
            </a:r>
          </a:p>
          <a:p>
            <a:r>
              <a:rPr lang="en-US" altLang="en-US" dirty="0"/>
              <a:t>Television time for four commercials</a:t>
            </a:r>
          </a:p>
          <a:p>
            <a:r>
              <a:rPr lang="en-US" altLang="en-US" dirty="0"/>
              <a:t>Radio time for 10 commercials</a:t>
            </a:r>
          </a:p>
          <a:p>
            <a:r>
              <a:rPr lang="en-US" altLang="en-US" dirty="0"/>
              <a:t>Newspaper space for 7 ads</a:t>
            </a:r>
          </a:p>
          <a:p>
            <a:r>
              <a:rPr lang="en-US" altLang="en-US" dirty="0"/>
              <a:t>Resources for no more than 15 commercials and/or ads</a:t>
            </a:r>
          </a:p>
        </p:txBody>
      </p:sp>
      <p:graphicFrame>
        <p:nvGraphicFramePr>
          <p:cNvPr id="4" name="Group 4">
            <a:extLst>
              <a:ext uri="{FF2B5EF4-FFF2-40B4-BE49-F238E27FC236}">
                <a16:creationId xmlns:a16="http://schemas.microsoft.com/office/drawing/2014/main" id="{D1245476-AC97-9357-BD8B-331F8D75F08A}"/>
              </a:ext>
            </a:extLst>
          </p:cNvPr>
          <p:cNvGraphicFramePr>
            <a:graphicFrameLocks/>
          </p:cNvGraphicFramePr>
          <p:nvPr>
            <p:extLst>
              <p:ext uri="{D42A27DB-BD31-4B8C-83A1-F6EECF244321}">
                <p14:modId xmlns:p14="http://schemas.microsoft.com/office/powerpoint/2010/main" val="379785795"/>
              </p:ext>
            </p:extLst>
          </p:nvPr>
        </p:nvGraphicFramePr>
        <p:xfrm>
          <a:off x="2344016" y="4447369"/>
          <a:ext cx="7081838" cy="2285896"/>
        </p:xfrm>
        <a:graphic>
          <a:graphicData uri="http://schemas.openxmlformats.org/drawingml/2006/table">
            <a:tbl>
              <a:tblPr firstRow="1" firstCol="1">
                <a:tableStyleId>{F2DE63D5-997A-4646-A377-4702673A728D}</a:tableStyleId>
              </a:tblPr>
              <a:tblGrid>
                <a:gridCol w="2405275">
                  <a:extLst>
                    <a:ext uri="{9D8B030D-6E8A-4147-A177-3AD203B41FA5}">
                      <a16:colId xmlns:a16="http://schemas.microsoft.com/office/drawing/2014/main" val="20000"/>
                    </a:ext>
                  </a:extLst>
                </a:gridCol>
                <a:gridCol w="2247872">
                  <a:extLst>
                    <a:ext uri="{9D8B030D-6E8A-4147-A177-3AD203B41FA5}">
                      <a16:colId xmlns:a16="http://schemas.microsoft.com/office/drawing/2014/main" val="20001"/>
                    </a:ext>
                  </a:extLst>
                </a:gridCol>
                <a:gridCol w="2428691">
                  <a:extLst>
                    <a:ext uri="{9D8B030D-6E8A-4147-A177-3AD203B41FA5}">
                      <a16:colId xmlns:a16="http://schemas.microsoft.com/office/drawing/2014/main" val="20002"/>
                    </a:ext>
                  </a:extLst>
                </a:gridCol>
              </a:tblGrid>
              <a:tr h="914267">
                <a:tc>
                  <a:txBody>
                    <a:bodyPr/>
                    <a:lstStyle/>
                    <a:p>
                      <a:pPr marL="0" marR="0" lvl="0" indent="0" algn="l" defTabSz="914400" rtl="0" eaLnBrk="1" fontAlgn="base" latinLnBrk="0" hangingPunct="1">
                        <a:lnSpc>
                          <a:spcPct val="100000"/>
                        </a:lnSpc>
                        <a:spcBef>
                          <a:spcPct val="20000"/>
                        </a:spcBef>
                        <a:spcAft>
                          <a:spcPct val="0"/>
                        </a:spcAft>
                        <a:buClr>
                          <a:srgbClr val="961212"/>
                        </a:buClr>
                        <a:buSzTx/>
                        <a:buFont typeface="Wingdings" pitchFamily="2" charset="2"/>
                        <a:buNone/>
                        <a:tabLst/>
                      </a:pPr>
                      <a:endParaRPr kumimoji="0" lang="en-US" sz="2000" b="1" i="0" u="none" strike="noStrike" cap="none" normalizeH="0" baseline="0" dirty="0">
                        <a:ln>
                          <a:noFill/>
                        </a:ln>
                        <a:solidFill>
                          <a:schemeClr val="hlink"/>
                        </a:solidFill>
                        <a:effectLst/>
                        <a:latin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Exposure</a:t>
                      </a:r>
                      <a:endParaRPr kumimoji="0" lang="en-US" sz="160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u="none" strike="noStrike" cap="none" normalizeH="0" baseline="0" dirty="0">
                          <a:ln>
                            <a:noFill/>
                          </a:ln>
                          <a:effectLst/>
                        </a:rPr>
                        <a:t>(people/ad or commercial)</a:t>
                      </a:r>
                      <a:endParaRPr kumimoji="0" lang="en-US" sz="1800" b="1" i="0" u="none" strike="noStrike" cap="none" normalizeH="0" baseline="0" dirty="0">
                        <a:ln>
                          <a:noFill/>
                        </a:ln>
                        <a:solidFill>
                          <a:schemeClr val="hlink"/>
                        </a:solidFill>
                        <a:effectLst/>
                        <a:latin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Cost</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anchor="b" horzOverflow="overflow"/>
                </a:tc>
                <a:extLst>
                  <a:ext uri="{0D108BD9-81ED-4DB2-BD59-A6C34878D82A}">
                    <a16:rowId xmlns:a16="http://schemas.microsoft.com/office/drawing/2014/main" val="10000"/>
                  </a:ext>
                </a:extLst>
              </a:tr>
              <a:tr h="36569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Television Commercial</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20,000</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$15,000</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horzOverflow="overflow"/>
                </a:tc>
                <a:extLst>
                  <a:ext uri="{0D108BD9-81ED-4DB2-BD59-A6C34878D82A}">
                    <a16:rowId xmlns:a16="http://schemas.microsoft.com/office/drawing/2014/main" val="10001"/>
                  </a:ext>
                </a:extLst>
              </a:tr>
              <a:tr h="36569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Radio Commercial</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12,000</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6,000</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horzOverflow="overflow"/>
                </a:tc>
                <a:extLst>
                  <a:ext uri="{0D108BD9-81ED-4DB2-BD59-A6C34878D82A}">
                    <a16:rowId xmlns:a16="http://schemas.microsoft.com/office/drawing/2014/main" val="10002"/>
                  </a:ext>
                </a:extLst>
              </a:tr>
              <a:tr h="36569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Newspaper Ad</a:t>
                      </a:r>
                      <a:endParaRPr kumimoji="0" lang="en-US" sz="1800" b="1" i="0" u="none" strike="noStrike" cap="none" normalizeH="0" baseline="0" dirty="0">
                        <a:ln>
                          <a:noFill/>
                        </a:ln>
                        <a:solidFill>
                          <a:schemeClr val="hlink"/>
                        </a:solidFill>
                        <a:effectLst/>
                        <a:latin typeface="Arial" charset="0"/>
                        <a:ea typeface="Times New Roman" pitchFamily="18" charset="0"/>
                        <a:cs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a:ln>
                            <a:noFill/>
                          </a:ln>
                          <a:effectLst/>
                        </a:rPr>
                        <a:t>9,000</a:t>
                      </a:r>
                      <a:endParaRPr kumimoji="0" lang="en-US" sz="1800" b="1" i="0" u="none" strike="noStrike" cap="none" normalizeH="0" baseline="0">
                        <a:ln>
                          <a:noFill/>
                        </a:ln>
                        <a:solidFill>
                          <a:schemeClr val="hlink"/>
                        </a:solidFill>
                        <a:effectLst/>
                        <a:latin typeface="Arial" charset="0"/>
                        <a:ea typeface="Times New Roman" pitchFamily="18" charset="0"/>
                        <a:cs typeface="Arial" charset="0"/>
                      </a:endParaRPr>
                    </a:p>
                  </a:txBody>
                  <a:tcPr marL="91432" marR="91432" marT="45707" marB="4570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4,000</a:t>
                      </a:r>
                      <a:endParaRPr kumimoji="0" lang="en-US" sz="1800" b="1" i="0" u="none" strike="noStrike" cap="none" normalizeH="0" baseline="0" dirty="0">
                        <a:ln>
                          <a:noFill/>
                        </a:ln>
                        <a:solidFill>
                          <a:schemeClr val="hlink"/>
                        </a:solidFill>
                        <a:effectLst/>
                        <a:latin typeface="Arial" charset="0"/>
                        <a:ea typeface="Times New Roman" pitchFamily="18" charset="0"/>
                        <a:cs typeface="Arial" charset="0"/>
                      </a:endParaRPr>
                    </a:p>
                  </a:txBody>
                  <a:tcPr marL="91432" marR="91432" marT="45707" marB="45707" horzOverflow="overflow"/>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44750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E2F1-D096-DC99-D9C4-85557F8268A2}"/>
              </a:ext>
            </a:extLst>
          </p:cNvPr>
          <p:cNvSpPr>
            <a:spLocks noGrp="1"/>
          </p:cNvSpPr>
          <p:nvPr>
            <p:ph type="title"/>
          </p:nvPr>
        </p:nvSpPr>
        <p:spPr/>
        <p:txBody>
          <a:bodyPr/>
          <a:lstStyle/>
          <a:p>
            <a:r>
              <a:rPr lang="en-US" dirty="0"/>
              <a:t>LP Model formulation</a:t>
            </a:r>
          </a:p>
        </p:txBody>
      </p:sp>
      <p:sp>
        <p:nvSpPr>
          <p:cNvPr id="3" name="Content Placeholder 2">
            <a:extLst>
              <a:ext uri="{FF2B5EF4-FFF2-40B4-BE49-F238E27FC236}">
                <a16:creationId xmlns:a16="http://schemas.microsoft.com/office/drawing/2014/main" id="{A8DFEB8E-2AEC-8544-D229-1828CF0ABEF5}"/>
              </a:ext>
            </a:extLst>
          </p:cNvPr>
          <p:cNvSpPr>
            <a:spLocks noGrp="1"/>
          </p:cNvSpPr>
          <p:nvPr>
            <p:ph idx="1"/>
          </p:nvPr>
        </p:nvSpPr>
        <p:spPr>
          <a:xfrm>
            <a:off x="124690" y="1717964"/>
            <a:ext cx="11956473" cy="5029200"/>
          </a:xfrm>
        </p:spPr>
        <p:txBody>
          <a:bodyPr>
            <a:normAutofit/>
          </a:bodyPr>
          <a:lstStyle/>
          <a:p>
            <a:r>
              <a:rPr lang="en-US" altLang="en-US" dirty="0"/>
              <a:t>Maximize Z = 20,000x1 + 12,000x2 + 9,000x3</a:t>
            </a:r>
          </a:p>
          <a:p>
            <a:r>
              <a:rPr lang="en-US" altLang="en-US" dirty="0"/>
              <a:t>subject to:</a:t>
            </a:r>
          </a:p>
          <a:p>
            <a:pPr lvl="1"/>
            <a:r>
              <a:rPr lang="en-US" altLang="en-US" dirty="0"/>
              <a:t>15,000x1 + 6,000x2 + 4,000x3 </a:t>
            </a:r>
            <a:r>
              <a:rPr lang="en-US" altLang="en-US" dirty="0">
                <a:sym typeface="Symbol" panose="05050102010706020507" pitchFamily="18" charset="2"/>
              </a:rPr>
              <a:t></a:t>
            </a:r>
            <a:r>
              <a:rPr lang="en-US" altLang="en-US" dirty="0"/>
              <a:t> 100,000</a:t>
            </a:r>
          </a:p>
          <a:p>
            <a:pPr lvl="1"/>
            <a:r>
              <a:rPr lang="en-US" altLang="en-US" dirty="0"/>
              <a:t>x1 </a:t>
            </a:r>
            <a:r>
              <a:rPr lang="en-US" altLang="en-US" dirty="0">
                <a:sym typeface="Symbol" panose="05050102010706020507" pitchFamily="18" charset="2"/>
              </a:rPr>
              <a:t></a:t>
            </a:r>
            <a:r>
              <a:rPr lang="en-US" altLang="en-US" dirty="0"/>
              <a:t> 4</a:t>
            </a:r>
          </a:p>
          <a:p>
            <a:pPr lvl="1"/>
            <a:r>
              <a:rPr lang="en-US" altLang="en-US" dirty="0"/>
              <a:t>x2 </a:t>
            </a:r>
            <a:r>
              <a:rPr lang="en-US" altLang="en-US" dirty="0">
                <a:sym typeface="Symbol" panose="05050102010706020507" pitchFamily="18" charset="2"/>
              </a:rPr>
              <a:t></a:t>
            </a:r>
            <a:r>
              <a:rPr lang="en-US" altLang="en-US" dirty="0"/>
              <a:t> 10</a:t>
            </a:r>
          </a:p>
          <a:p>
            <a:pPr lvl="1"/>
            <a:r>
              <a:rPr lang="en-US" altLang="en-US" dirty="0"/>
              <a:t>x3 </a:t>
            </a:r>
            <a:r>
              <a:rPr lang="en-US" altLang="en-US" dirty="0">
                <a:sym typeface="Symbol" panose="05050102010706020507" pitchFamily="18" charset="2"/>
              </a:rPr>
              <a:t></a:t>
            </a:r>
            <a:r>
              <a:rPr lang="en-US" altLang="en-US" dirty="0"/>
              <a:t> 7</a:t>
            </a:r>
          </a:p>
          <a:p>
            <a:pPr lvl="1"/>
            <a:r>
              <a:rPr lang="en-US" altLang="en-US" dirty="0"/>
              <a:t>x1 + x2 + x3 </a:t>
            </a:r>
            <a:r>
              <a:rPr lang="en-US" altLang="en-US" dirty="0">
                <a:sym typeface="Symbol" panose="05050102010706020507" pitchFamily="18" charset="2"/>
              </a:rPr>
              <a:t></a:t>
            </a:r>
            <a:r>
              <a:rPr lang="en-US" altLang="en-US" dirty="0"/>
              <a:t> 15</a:t>
            </a:r>
          </a:p>
          <a:p>
            <a:pPr lvl="1"/>
            <a:r>
              <a:rPr lang="en-US" altLang="en-US" dirty="0"/>
              <a:t>x1, x2, x3 </a:t>
            </a:r>
            <a:r>
              <a:rPr lang="en-US" altLang="en-US" dirty="0">
                <a:sym typeface="Symbol" panose="05050102010706020507" pitchFamily="18" charset="2"/>
              </a:rPr>
              <a:t></a:t>
            </a:r>
            <a:r>
              <a:rPr lang="en-US" altLang="en-US" dirty="0"/>
              <a:t> 0 </a:t>
            </a:r>
          </a:p>
          <a:p>
            <a:r>
              <a:rPr lang="en-US" altLang="en-US" dirty="0"/>
              <a:t>where</a:t>
            </a:r>
          </a:p>
          <a:p>
            <a:pPr lvl="1"/>
            <a:r>
              <a:rPr lang="en-US" altLang="en-US" dirty="0"/>
              <a:t>x1 = Exposure from Television Commercial (people) </a:t>
            </a:r>
          </a:p>
          <a:p>
            <a:pPr lvl="1"/>
            <a:r>
              <a:rPr lang="en-US" altLang="en-US" dirty="0"/>
              <a:t>x2 = Exposure from Radio Commercial (people) </a:t>
            </a:r>
          </a:p>
          <a:p>
            <a:pPr lvl="1"/>
            <a:r>
              <a:rPr lang="en-US" altLang="en-US" dirty="0"/>
              <a:t>x3 = Exposure from Newspaper Ad (people)          </a:t>
            </a:r>
          </a:p>
        </p:txBody>
      </p:sp>
    </p:spTree>
    <p:extLst>
      <p:ext uri="{BB962C8B-B14F-4D97-AF65-F5344CB8AC3E}">
        <p14:creationId xmlns:p14="http://schemas.microsoft.com/office/powerpoint/2010/main" val="2464449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Content Placeholder 4" descr="A white rectangular sign with blue text&#10;&#10;Description automatically generated">
            <a:extLst>
              <a:ext uri="{FF2B5EF4-FFF2-40B4-BE49-F238E27FC236}">
                <a16:creationId xmlns:a16="http://schemas.microsoft.com/office/drawing/2014/main" id="{F9EFE52A-1949-84D0-9D6E-99D0458079C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00095" y="643466"/>
            <a:ext cx="9904119" cy="5571067"/>
          </a:xfrm>
          <a:prstGeom prst="rect">
            <a:avLst/>
          </a:prstGeom>
          <a:ln w="127000" cap="flat">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521944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287</TotalTime>
  <Words>1077</Words>
  <Application>Microsoft Office PowerPoint</Application>
  <PresentationFormat>Widescreen</PresentationFormat>
  <Paragraphs>187</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Bookman Old Style</vt:lpstr>
      <vt:lpstr>Calibri</vt:lpstr>
      <vt:lpstr>Cambria Math</vt:lpstr>
      <vt:lpstr>Rockwell</vt:lpstr>
      <vt:lpstr>Symbol</vt:lpstr>
      <vt:lpstr>Times New Roman</vt:lpstr>
      <vt:lpstr>Wingdings</vt:lpstr>
      <vt:lpstr>Damask</vt:lpstr>
      <vt:lpstr>Operations Research  </vt:lpstr>
      <vt:lpstr>Operations Research An Introduction  Hamdy Taha</vt:lpstr>
      <vt:lpstr>Terminology</vt:lpstr>
      <vt:lpstr>What is OR?</vt:lpstr>
      <vt:lpstr>PowerPoint Presentation</vt:lpstr>
      <vt:lpstr>Steps in the OR Process</vt:lpstr>
      <vt:lpstr>Linear Programming (LP)</vt:lpstr>
      <vt:lpstr>LP Model Formulation (example 1)</vt:lpstr>
      <vt:lpstr>LP Model Formulation</vt:lpstr>
      <vt:lpstr>LP Model Formulation</vt:lpstr>
      <vt:lpstr>Product-mix Problem (example 2)</vt:lpstr>
      <vt:lpstr>LP Model Formulation</vt:lpstr>
      <vt:lpstr>Daily Flights (example 3)</vt:lpstr>
      <vt:lpstr>LP Model Formulation</vt:lpstr>
      <vt:lpstr>A Marketing Example (example 4)</vt:lpstr>
      <vt:lpstr>LP Model formulation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Research (1)</dc:title>
  <dc:creator>Doaa AbdelNaeem</dc:creator>
  <cp:lastModifiedBy>MAMusstafa</cp:lastModifiedBy>
  <cp:revision>38</cp:revision>
  <dcterms:created xsi:type="dcterms:W3CDTF">2023-10-02T03:05:30Z</dcterms:created>
  <dcterms:modified xsi:type="dcterms:W3CDTF">2025-02-11T08:41:33Z</dcterms:modified>
</cp:coreProperties>
</file>